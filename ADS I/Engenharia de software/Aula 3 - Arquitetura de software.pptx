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60" r:id="rId3"/>
    <p:sldId id="261" r:id="rId4"/>
    <p:sldId id="262" r:id="rId5"/>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E1E142-74BC-926F-E2EB-77FBA875BFFC}"/>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A681E985-7D4C-AA0D-A4AC-B1D337F4A21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9373DC81-4AAB-2884-556F-76996698BD35}"/>
              </a:ext>
            </a:extLst>
          </p:cNvPr>
          <p:cNvSpPr>
            <a:spLocks noGrp="1"/>
          </p:cNvSpPr>
          <p:nvPr>
            <p:ph type="dt" sz="half" idx="10"/>
          </p:nvPr>
        </p:nvSpPr>
        <p:spPr/>
        <p:txBody>
          <a:bodyPr/>
          <a:lstStyle/>
          <a:p>
            <a:fld id="{FF9620AA-6E5F-4125-B41F-3E3AEED7F1AA}" type="datetimeFigureOut">
              <a:rPr lang="pt-BR" smtClean="0"/>
              <a:t>24/01/2023</a:t>
            </a:fld>
            <a:endParaRPr lang="pt-BR"/>
          </a:p>
        </p:txBody>
      </p:sp>
      <p:sp>
        <p:nvSpPr>
          <p:cNvPr id="5" name="Espaço Reservado para Rodapé 4">
            <a:extLst>
              <a:ext uri="{FF2B5EF4-FFF2-40B4-BE49-F238E27FC236}">
                <a16:creationId xmlns:a16="http://schemas.microsoft.com/office/drawing/2014/main" id="{5715AAFB-C79B-746C-9791-D5E15668706D}"/>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3DBE9DBC-93D8-C890-6F27-4AACFA98E804}"/>
              </a:ext>
            </a:extLst>
          </p:cNvPr>
          <p:cNvSpPr>
            <a:spLocks noGrp="1"/>
          </p:cNvSpPr>
          <p:nvPr>
            <p:ph type="sldNum" sz="quarter" idx="12"/>
          </p:nvPr>
        </p:nvSpPr>
        <p:spPr/>
        <p:txBody>
          <a:bodyPr/>
          <a:lstStyle/>
          <a:p>
            <a:fld id="{6B8E552C-E211-4F70-8BC2-7B71CEC424F2}" type="slidenum">
              <a:rPr lang="pt-BR" smtClean="0"/>
              <a:t>‹nº›</a:t>
            </a:fld>
            <a:endParaRPr lang="pt-BR"/>
          </a:p>
        </p:txBody>
      </p:sp>
    </p:spTree>
    <p:extLst>
      <p:ext uri="{BB962C8B-B14F-4D97-AF65-F5344CB8AC3E}">
        <p14:creationId xmlns:p14="http://schemas.microsoft.com/office/powerpoint/2010/main" val="24454030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0B30A5-6F4F-66C4-2342-1A838543BFF8}"/>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EFA61E31-A0DD-B6F9-FA15-A25A652B8995}"/>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9AB91EC2-1E4E-B287-D094-0154CA46F2FA}"/>
              </a:ext>
            </a:extLst>
          </p:cNvPr>
          <p:cNvSpPr>
            <a:spLocks noGrp="1"/>
          </p:cNvSpPr>
          <p:nvPr>
            <p:ph type="dt" sz="half" idx="10"/>
          </p:nvPr>
        </p:nvSpPr>
        <p:spPr/>
        <p:txBody>
          <a:bodyPr/>
          <a:lstStyle/>
          <a:p>
            <a:fld id="{FF9620AA-6E5F-4125-B41F-3E3AEED7F1AA}" type="datetimeFigureOut">
              <a:rPr lang="pt-BR" smtClean="0"/>
              <a:t>24/01/2023</a:t>
            </a:fld>
            <a:endParaRPr lang="pt-BR"/>
          </a:p>
        </p:txBody>
      </p:sp>
      <p:sp>
        <p:nvSpPr>
          <p:cNvPr id="5" name="Espaço Reservado para Rodapé 4">
            <a:extLst>
              <a:ext uri="{FF2B5EF4-FFF2-40B4-BE49-F238E27FC236}">
                <a16:creationId xmlns:a16="http://schemas.microsoft.com/office/drawing/2014/main" id="{36A0734E-38A2-5881-B06B-C89B3999843C}"/>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B95FAE09-B0D2-4DA9-5791-751BBE09A74F}"/>
              </a:ext>
            </a:extLst>
          </p:cNvPr>
          <p:cNvSpPr>
            <a:spLocks noGrp="1"/>
          </p:cNvSpPr>
          <p:nvPr>
            <p:ph type="sldNum" sz="quarter" idx="12"/>
          </p:nvPr>
        </p:nvSpPr>
        <p:spPr/>
        <p:txBody>
          <a:bodyPr/>
          <a:lstStyle/>
          <a:p>
            <a:fld id="{6B8E552C-E211-4F70-8BC2-7B71CEC424F2}" type="slidenum">
              <a:rPr lang="pt-BR" smtClean="0"/>
              <a:t>‹nº›</a:t>
            </a:fld>
            <a:endParaRPr lang="pt-BR"/>
          </a:p>
        </p:txBody>
      </p:sp>
    </p:spTree>
    <p:extLst>
      <p:ext uri="{BB962C8B-B14F-4D97-AF65-F5344CB8AC3E}">
        <p14:creationId xmlns:p14="http://schemas.microsoft.com/office/powerpoint/2010/main" val="32494469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728C34-41C9-39EF-C9A0-38CC64E46473}"/>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1C8C2751-ABE4-EE58-3D1C-1B9221757F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432514B5-4CB2-8C65-1C0A-CF342AE43C6F}"/>
              </a:ext>
            </a:extLst>
          </p:cNvPr>
          <p:cNvSpPr>
            <a:spLocks noGrp="1"/>
          </p:cNvSpPr>
          <p:nvPr>
            <p:ph type="dt" sz="half" idx="10"/>
          </p:nvPr>
        </p:nvSpPr>
        <p:spPr/>
        <p:txBody>
          <a:bodyPr/>
          <a:lstStyle/>
          <a:p>
            <a:fld id="{FF9620AA-6E5F-4125-B41F-3E3AEED7F1AA}" type="datetimeFigureOut">
              <a:rPr lang="pt-BR" smtClean="0"/>
              <a:t>24/01/2023</a:t>
            </a:fld>
            <a:endParaRPr lang="pt-BR"/>
          </a:p>
        </p:txBody>
      </p:sp>
      <p:sp>
        <p:nvSpPr>
          <p:cNvPr id="5" name="Espaço Reservado para Rodapé 4">
            <a:extLst>
              <a:ext uri="{FF2B5EF4-FFF2-40B4-BE49-F238E27FC236}">
                <a16:creationId xmlns:a16="http://schemas.microsoft.com/office/drawing/2014/main" id="{BBC154A6-158D-8F1F-AF4A-F5C89DDEC9E3}"/>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7E4022CE-098D-A09D-A757-6CE779F4C4BA}"/>
              </a:ext>
            </a:extLst>
          </p:cNvPr>
          <p:cNvSpPr>
            <a:spLocks noGrp="1"/>
          </p:cNvSpPr>
          <p:nvPr>
            <p:ph type="sldNum" sz="quarter" idx="12"/>
          </p:nvPr>
        </p:nvSpPr>
        <p:spPr/>
        <p:txBody>
          <a:bodyPr/>
          <a:lstStyle/>
          <a:p>
            <a:fld id="{6B8E552C-E211-4F70-8BC2-7B71CEC424F2}" type="slidenum">
              <a:rPr lang="pt-BR" smtClean="0"/>
              <a:t>‹nº›</a:t>
            </a:fld>
            <a:endParaRPr lang="pt-BR"/>
          </a:p>
        </p:txBody>
      </p:sp>
    </p:spTree>
    <p:extLst>
      <p:ext uri="{BB962C8B-B14F-4D97-AF65-F5344CB8AC3E}">
        <p14:creationId xmlns:p14="http://schemas.microsoft.com/office/powerpoint/2010/main" val="3185369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21E9C7-CB45-1853-CE29-7664FDF73C23}"/>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4BB60218-2D53-D910-5438-1F5B4A4634A9}"/>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B8FD2EB3-BFE6-E18A-BCC0-5946D386A511}"/>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FC38EF9A-30BF-DB97-4EEB-8F02816AF798}"/>
              </a:ext>
            </a:extLst>
          </p:cNvPr>
          <p:cNvSpPr>
            <a:spLocks noGrp="1"/>
          </p:cNvSpPr>
          <p:nvPr>
            <p:ph type="dt" sz="half" idx="10"/>
          </p:nvPr>
        </p:nvSpPr>
        <p:spPr/>
        <p:txBody>
          <a:bodyPr/>
          <a:lstStyle/>
          <a:p>
            <a:fld id="{FF9620AA-6E5F-4125-B41F-3E3AEED7F1AA}" type="datetimeFigureOut">
              <a:rPr lang="pt-BR" smtClean="0"/>
              <a:t>24/01/2023</a:t>
            </a:fld>
            <a:endParaRPr lang="pt-BR"/>
          </a:p>
        </p:txBody>
      </p:sp>
      <p:sp>
        <p:nvSpPr>
          <p:cNvPr id="6" name="Espaço Reservado para Rodapé 5">
            <a:extLst>
              <a:ext uri="{FF2B5EF4-FFF2-40B4-BE49-F238E27FC236}">
                <a16:creationId xmlns:a16="http://schemas.microsoft.com/office/drawing/2014/main" id="{915DC055-52D7-6596-43E3-EC486CA331DA}"/>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6BCA39D4-C4B9-D85C-024A-8E978B21D8C7}"/>
              </a:ext>
            </a:extLst>
          </p:cNvPr>
          <p:cNvSpPr>
            <a:spLocks noGrp="1"/>
          </p:cNvSpPr>
          <p:nvPr>
            <p:ph type="sldNum" sz="quarter" idx="12"/>
          </p:nvPr>
        </p:nvSpPr>
        <p:spPr/>
        <p:txBody>
          <a:bodyPr/>
          <a:lstStyle/>
          <a:p>
            <a:fld id="{6B8E552C-E211-4F70-8BC2-7B71CEC424F2}" type="slidenum">
              <a:rPr lang="pt-BR" smtClean="0"/>
              <a:t>‹nº›</a:t>
            </a:fld>
            <a:endParaRPr lang="pt-BR"/>
          </a:p>
        </p:txBody>
      </p:sp>
    </p:spTree>
    <p:extLst>
      <p:ext uri="{BB962C8B-B14F-4D97-AF65-F5344CB8AC3E}">
        <p14:creationId xmlns:p14="http://schemas.microsoft.com/office/powerpoint/2010/main" val="3767956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BF596C-5D65-BD9F-D6A2-37D30E876C75}"/>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94D6F4CA-6559-27A2-5E8F-6554EB7350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984D8990-0437-58F3-B10C-7A61DF3F9690}"/>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BBEED627-C972-F0E2-4A2B-48BCB27F36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40C407AF-D857-6100-8AC7-8FE7FFEF5B13}"/>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C3E92B7A-3242-D795-44C3-96611D54B4ED}"/>
              </a:ext>
            </a:extLst>
          </p:cNvPr>
          <p:cNvSpPr>
            <a:spLocks noGrp="1"/>
          </p:cNvSpPr>
          <p:nvPr>
            <p:ph type="dt" sz="half" idx="10"/>
          </p:nvPr>
        </p:nvSpPr>
        <p:spPr/>
        <p:txBody>
          <a:bodyPr/>
          <a:lstStyle/>
          <a:p>
            <a:fld id="{FF9620AA-6E5F-4125-B41F-3E3AEED7F1AA}" type="datetimeFigureOut">
              <a:rPr lang="pt-BR" smtClean="0"/>
              <a:t>24/01/2023</a:t>
            </a:fld>
            <a:endParaRPr lang="pt-BR"/>
          </a:p>
        </p:txBody>
      </p:sp>
      <p:sp>
        <p:nvSpPr>
          <p:cNvPr id="8" name="Espaço Reservado para Rodapé 7">
            <a:extLst>
              <a:ext uri="{FF2B5EF4-FFF2-40B4-BE49-F238E27FC236}">
                <a16:creationId xmlns:a16="http://schemas.microsoft.com/office/drawing/2014/main" id="{A119E54E-22E8-5790-98BE-619CC98342FB}"/>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F8F82D9A-9347-D87E-42E4-63C3D37C699F}"/>
              </a:ext>
            </a:extLst>
          </p:cNvPr>
          <p:cNvSpPr>
            <a:spLocks noGrp="1"/>
          </p:cNvSpPr>
          <p:nvPr>
            <p:ph type="sldNum" sz="quarter" idx="12"/>
          </p:nvPr>
        </p:nvSpPr>
        <p:spPr/>
        <p:txBody>
          <a:bodyPr/>
          <a:lstStyle/>
          <a:p>
            <a:fld id="{6B8E552C-E211-4F70-8BC2-7B71CEC424F2}" type="slidenum">
              <a:rPr lang="pt-BR" smtClean="0"/>
              <a:t>‹nº›</a:t>
            </a:fld>
            <a:endParaRPr lang="pt-BR"/>
          </a:p>
        </p:txBody>
      </p:sp>
    </p:spTree>
    <p:extLst>
      <p:ext uri="{BB962C8B-B14F-4D97-AF65-F5344CB8AC3E}">
        <p14:creationId xmlns:p14="http://schemas.microsoft.com/office/powerpoint/2010/main" val="33111824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3BBA8B-8ACB-27D4-B618-1244CCA7D802}"/>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49259340-78DA-5B8C-2DF0-152A8AF776C7}"/>
              </a:ext>
            </a:extLst>
          </p:cNvPr>
          <p:cNvSpPr>
            <a:spLocks noGrp="1"/>
          </p:cNvSpPr>
          <p:nvPr>
            <p:ph type="dt" sz="half" idx="10"/>
          </p:nvPr>
        </p:nvSpPr>
        <p:spPr/>
        <p:txBody>
          <a:bodyPr/>
          <a:lstStyle/>
          <a:p>
            <a:fld id="{FF9620AA-6E5F-4125-B41F-3E3AEED7F1AA}" type="datetimeFigureOut">
              <a:rPr lang="pt-BR" smtClean="0"/>
              <a:t>24/01/2023</a:t>
            </a:fld>
            <a:endParaRPr lang="pt-BR"/>
          </a:p>
        </p:txBody>
      </p:sp>
      <p:sp>
        <p:nvSpPr>
          <p:cNvPr id="4" name="Espaço Reservado para Rodapé 3">
            <a:extLst>
              <a:ext uri="{FF2B5EF4-FFF2-40B4-BE49-F238E27FC236}">
                <a16:creationId xmlns:a16="http://schemas.microsoft.com/office/drawing/2014/main" id="{EAB9173F-91F5-F203-4184-C28AD54E0824}"/>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F033BB08-C553-7883-2779-AAA921EF20CF}"/>
              </a:ext>
            </a:extLst>
          </p:cNvPr>
          <p:cNvSpPr>
            <a:spLocks noGrp="1"/>
          </p:cNvSpPr>
          <p:nvPr>
            <p:ph type="sldNum" sz="quarter" idx="12"/>
          </p:nvPr>
        </p:nvSpPr>
        <p:spPr/>
        <p:txBody>
          <a:bodyPr/>
          <a:lstStyle/>
          <a:p>
            <a:fld id="{6B8E552C-E211-4F70-8BC2-7B71CEC424F2}" type="slidenum">
              <a:rPr lang="pt-BR" smtClean="0"/>
              <a:t>‹nº›</a:t>
            </a:fld>
            <a:endParaRPr lang="pt-BR"/>
          </a:p>
        </p:txBody>
      </p:sp>
    </p:spTree>
    <p:extLst>
      <p:ext uri="{BB962C8B-B14F-4D97-AF65-F5344CB8AC3E}">
        <p14:creationId xmlns:p14="http://schemas.microsoft.com/office/powerpoint/2010/main" val="31432491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528C5704-E314-112F-AFCB-599B433032CB}"/>
              </a:ext>
            </a:extLst>
          </p:cNvPr>
          <p:cNvSpPr>
            <a:spLocks noGrp="1"/>
          </p:cNvSpPr>
          <p:nvPr>
            <p:ph type="dt" sz="half" idx="10"/>
          </p:nvPr>
        </p:nvSpPr>
        <p:spPr/>
        <p:txBody>
          <a:bodyPr/>
          <a:lstStyle/>
          <a:p>
            <a:fld id="{FF9620AA-6E5F-4125-B41F-3E3AEED7F1AA}" type="datetimeFigureOut">
              <a:rPr lang="pt-BR" smtClean="0"/>
              <a:t>24/01/2023</a:t>
            </a:fld>
            <a:endParaRPr lang="pt-BR"/>
          </a:p>
        </p:txBody>
      </p:sp>
      <p:sp>
        <p:nvSpPr>
          <p:cNvPr id="3" name="Espaço Reservado para Rodapé 2">
            <a:extLst>
              <a:ext uri="{FF2B5EF4-FFF2-40B4-BE49-F238E27FC236}">
                <a16:creationId xmlns:a16="http://schemas.microsoft.com/office/drawing/2014/main" id="{E90D5760-AAE4-DE15-A30D-35932BE43EB6}"/>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BD39C456-1CC5-054F-768C-BD120FFE79B7}"/>
              </a:ext>
            </a:extLst>
          </p:cNvPr>
          <p:cNvSpPr>
            <a:spLocks noGrp="1"/>
          </p:cNvSpPr>
          <p:nvPr>
            <p:ph type="sldNum" sz="quarter" idx="12"/>
          </p:nvPr>
        </p:nvSpPr>
        <p:spPr/>
        <p:txBody>
          <a:bodyPr/>
          <a:lstStyle/>
          <a:p>
            <a:fld id="{6B8E552C-E211-4F70-8BC2-7B71CEC424F2}" type="slidenum">
              <a:rPr lang="pt-BR" smtClean="0"/>
              <a:t>‹nº›</a:t>
            </a:fld>
            <a:endParaRPr lang="pt-BR"/>
          </a:p>
        </p:txBody>
      </p:sp>
    </p:spTree>
    <p:extLst>
      <p:ext uri="{BB962C8B-B14F-4D97-AF65-F5344CB8AC3E}">
        <p14:creationId xmlns:p14="http://schemas.microsoft.com/office/powerpoint/2010/main" val="24739582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8A94D0-9A60-9424-70C9-B31C7C9705CE}"/>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5C3E2C65-2653-FF85-327D-A6BD326FAD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90225E2D-A86D-0F74-0AAE-A6B78AD937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E6D7526E-58F6-F9E5-B862-29310F9A062E}"/>
              </a:ext>
            </a:extLst>
          </p:cNvPr>
          <p:cNvSpPr>
            <a:spLocks noGrp="1"/>
          </p:cNvSpPr>
          <p:nvPr>
            <p:ph type="dt" sz="half" idx="10"/>
          </p:nvPr>
        </p:nvSpPr>
        <p:spPr/>
        <p:txBody>
          <a:bodyPr/>
          <a:lstStyle/>
          <a:p>
            <a:fld id="{FF9620AA-6E5F-4125-B41F-3E3AEED7F1AA}" type="datetimeFigureOut">
              <a:rPr lang="pt-BR" smtClean="0"/>
              <a:t>24/01/2023</a:t>
            </a:fld>
            <a:endParaRPr lang="pt-BR"/>
          </a:p>
        </p:txBody>
      </p:sp>
      <p:sp>
        <p:nvSpPr>
          <p:cNvPr id="6" name="Espaço Reservado para Rodapé 5">
            <a:extLst>
              <a:ext uri="{FF2B5EF4-FFF2-40B4-BE49-F238E27FC236}">
                <a16:creationId xmlns:a16="http://schemas.microsoft.com/office/drawing/2014/main" id="{45F06302-70A4-4FC1-A621-FD94B394E135}"/>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6F2FAB4A-3BC6-95CB-BC15-EBEAAC4340D6}"/>
              </a:ext>
            </a:extLst>
          </p:cNvPr>
          <p:cNvSpPr>
            <a:spLocks noGrp="1"/>
          </p:cNvSpPr>
          <p:nvPr>
            <p:ph type="sldNum" sz="quarter" idx="12"/>
          </p:nvPr>
        </p:nvSpPr>
        <p:spPr/>
        <p:txBody>
          <a:bodyPr/>
          <a:lstStyle/>
          <a:p>
            <a:fld id="{6B8E552C-E211-4F70-8BC2-7B71CEC424F2}" type="slidenum">
              <a:rPr lang="pt-BR" smtClean="0"/>
              <a:t>‹nº›</a:t>
            </a:fld>
            <a:endParaRPr lang="pt-BR"/>
          </a:p>
        </p:txBody>
      </p:sp>
    </p:spTree>
    <p:extLst>
      <p:ext uri="{BB962C8B-B14F-4D97-AF65-F5344CB8AC3E}">
        <p14:creationId xmlns:p14="http://schemas.microsoft.com/office/powerpoint/2010/main" val="425776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8510FB-8D8E-BAFA-9FB7-0F492E2978DC}"/>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97F63C6A-C658-7E67-3447-A697AA9555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9A8779E3-7D20-7E6E-8F78-525889158C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20EEEDC1-88AF-896B-C719-1CA220A0933C}"/>
              </a:ext>
            </a:extLst>
          </p:cNvPr>
          <p:cNvSpPr>
            <a:spLocks noGrp="1"/>
          </p:cNvSpPr>
          <p:nvPr>
            <p:ph type="dt" sz="half" idx="10"/>
          </p:nvPr>
        </p:nvSpPr>
        <p:spPr/>
        <p:txBody>
          <a:bodyPr/>
          <a:lstStyle/>
          <a:p>
            <a:fld id="{FF9620AA-6E5F-4125-B41F-3E3AEED7F1AA}" type="datetimeFigureOut">
              <a:rPr lang="pt-BR" smtClean="0"/>
              <a:t>24/01/2023</a:t>
            </a:fld>
            <a:endParaRPr lang="pt-BR"/>
          </a:p>
        </p:txBody>
      </p:sp>
      <p:sp>
        <p:nvSpPr>
          <p:cNvPr id="6" name="Espaço Reservado para Rodapé 5">
            <a:extLst>
              <a:ext uri="{FF2B5EF4-FFF2-40B4-BE49-F238E27FC236}">
                <a16:creationId xmlns:a16="http://schemas.microsoft.com/office/drawing/2014/main" id="{4FEEC758-7947-0F58-F332-1A635B8AFBD3}"/>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DE2338A1-A01B-EA7B-E2F0-97647DEEB26A}"/>
              </a:ext>
            </a:extLst>
          </p:cNvPr>
          <p:cNvSpPr>
            <a:spLocks noGrp="1"/>
          </p:cNvSpPr>
          <p:nvPr>
            <p:ph type="sldNum" sz="quarter" idx="12"/>
          </p:nvPr>
        </p:nvSpPr>
        <p:spPr/>
        <p:txBody>
          <a:bodyPr/>
          <a:lstStyle/>
          <a:p>
            <a:fld id="{6B8E552C-E211-4F70-8BC2-7B71CEC424F2}" type="slidenum">
              <a:rPr lang="pt-BR" smtClean="0"/>
              <a:t>‹nº›</a:t>
            </a:fld>
            <a:endParaRPr lang="pt-BR"/>
          </a:p>
        </p:txBody>
      </p:sp>
    </p:spTree>
    <p:extLst>
      <p:ext uri="{BB962C8B-B14F-4D97-AF65-F5344CB8AC3E}">
        <p14:creationId xmlns:p14="http://schemas.microsoft.com/office/powerpoint/2010/main" val="13115240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EC9DF1-4B0B-D254-67C2-12EE363BFA00}"/>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35B0764F-B933-ECD0-703D-4966E09FEFAA}"/>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66FF4677-FEFD-EB9B-8000-E9F87DC0AF1F}"/>
              </a:ext>
            </a:extLst>
          </p:cNvPr>
          <p:cNvSpPr>
            <a:spLocks noGrp="1"/>
          </p:cNvSpPr>
          <p:nvPr>
            <p:ph type="dt" sz="half" idx="10"/>
          </p:nvPr>
        </p:nvSpPr>
        <p:spPr/>
        <p:txBody>
          <a:bodyPr/>
          <a:lstStyle/>
          <a:p>
            <a:fld id="{FF9620AA-6E5F-4125-B41F-3E3AEED7F1AA}" type="datetimeFigureOut">
              <a:rPr lang="pt-BR" smtClean="0"/>
              <a:t>24/01/2023</a:t>
            </a:fld>
            <a:endParaRPr lang="pt-BR"/>
          </a:p>
        </p:txBody>
      </p:sp>
      <p:sp>
        <p:nvSpPr>
          <p:cNvPr id="5" name="Espaço Reservado para Rodapé 4">
            <a:extLst>
              <a:ext uri="{FF2B5EF4-FFF2-40B4-BE49-F238E27FC236}">
                <a16:creationId xmlns:a16="http://schemas.microsoft.com/office/drawing/2014/main" id="{96C4EF02-3C5F-F29C-35AC-3750AF214C2E}"/>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E764A907-2D89-05C9-6C5E-A43C5E4D24A6}"/>
              </a:ext>
            </a:extLst>
          </p:cNvPr>
          <p:cNvSpPr>
            <a:spLocks noGrp="1"/>
          </p:cNvSpPr>
          <p:nvPr>
            <p:ph type="sldNum" sz="quarter" idx="12"/>
          </p:nvPr>
        </p:nvSpPr>
        <p:spPr/>
        <p:txBody>
          <a:bodyPr/>
          <a:lstStyle/>
          <a:p>
            <a:fld id="{6B8E552C-E211-4F70-8BC2-7B71CEC424F2}" type="slidenum">
              <a:rPr lang="pt-BR" smtClean="0"/>
              <a:t>‹nº›</a:t>
            </a:fld>
            <a:endParaRPr lang="pt-BR"/>
          </a:p>
        </p:txBody>
      </p:sp>
    </p:spTree>
    <p:extLst>
      <p:ext uri="{BB962C8B-B14F-4D97-AF65-F5344CB8AC3E}">
        <p14:creationId xmlns:p14="http://schemas.microsoft.com/office/powerpoint/2010/main" val="3786413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4949481F-0423-F04F-7F62-A2E58041E468}"/>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093328F0-8B3E-35F1-4A04-FFFF32BD038E}"/>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22551F63-0600-D1B2-5684-4059AC92CD80}"/>
              </a:ext>
            </a:extLst>
          </p:cNvPr>
          <p:cNvSpPr>
            <a:spLocks noGrp="1"/>
          </p:cNvSpPr>
          <p:nvPr>
            <p:ph type="dt" sz="half" idx="10"/>
          </p:nvPr>
        </p:nvSpPr>
        <p:spPr/>
        <p:txBody>
          <a:bodyPr/>
          <a:lstStyle/>
          <a:p>
            <a:fld id="{FF9620AA-6E5F-4125-B41F-3E3AEED7F1AA}" type="datetimeFigureOut">
              <a:rPr lang="pt-BR" smtClean="0"/>
              <a:t>24/01/2023</a:t>
            </a:fld>
            <a:endParaRPr lang="pt-BR"/>
          </a:p>
        </p:txBody>
      </p:sp>
      <p:sp>
        <p:nvSpPr>
          <p:cNvPr id="5" name="Espaço Reservado para Rodapé 4">
            <a:extLst>
              <a:ext uri="{FF2B5EF4-FFF2-40B4-BE49-F238E27FC236}">
                <a16:creationId xmlns:a16="http://schemas.microsoft.com/office/drawing/2014/main" id="{AA13E758-04C0-A7BA-8BC9-BEBCAB024BF5}"/>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2DFCA654-213B-B2EA-F2AA-8EB73D3A0501}"/>
              </a:ext>
            </a:extLst>
          </p:cNvPr>
          <p:cNvSpPr>
            <a:spLocks noGrp="1"/>
          </p:cNvSpPr>
          <p:nvPr>
            <p:ph type="sldNum" sz="quarter" idx="12"/>
          </p:nvPr>
        </p:nvSpPr>
        <p:spPr/>
        <p:txBody>
          <a:bodyPr/>
          <a:lstStyle/>
          <a:p>
            <a:fld id="{6B8E552C-E211-4F70-8BC2-7B71CEC424F2}" type="slidenum">
              <a:rPr lang="pt-BR" smtClean="0"/>
              <a:t>‹nº›</a:t>
            </a:fld>
            <a:endParaRPr lang="pt-BR"/>
          </a:p>
        </p:txBody>
      </p:sp>
    </p:spTree>
    <p:extLst>
      <p:ext uri="{BB962C8B-B14F-4D97-AF65-F5344CB8AC3E}">
        <p14:creationId xmlns:p14="http://schemas.microsoft.com/office/powerpoint/2010/main" val="40059424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5017B0B6-059F-8AB0-C276-9A1074FF0C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727411C1-D900-4A5F-49E0-8CC8F784AA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C81C08CC-B542-AC6B-B298-3B506691103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9620AA-6E5F-4125-B41F-3E3AEED7F1AA}" type="datetimeFigureOut">
              <a:rPr lang="pt-BR" smtClean="0"/>
              <a:t>24/01/2023</a:t>
            </a:fld>
            <a:endParaRPr lang="pt-BR"/>
          </a:p>
        </p:txBody>
      </p:sp>
      <p:sp>
        <p:nvSpPr>
          <p:cNvPr id="5" name="Espaço Reservado para Rodapé 4">
            <a:extLst>
              <a:ext uri="{FF2B5EF4-FFF2-40B4-BE49-F238E27FC236}">
                <a16:creationId xmlns:a16="http://schemas.microsoft.com/office/drawing/2014/main" id="{6A4772E5-ABB7-16D4-8F77-FC216250D3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24AE2E56-00F2-9BFD-5310-55B69FAF77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8E552C-E211-4F70-8BC2-7B71CEC424F2}" type="slidenum">
              <a:rPr lang="pt-BR" smtClean="0"/>
              <a:t>‹nº›</a:t>
            </a:fld>
            <a:endParaRPr lang="pt-BR"/>
          </a:p>
        </p:txBody>
      </p:sp>
    </p:spTree>
    <p:extLst>
      <p:ext uri="{BB962C8B-B14F-4D97-AF65-F5344CB8AC3E}">
        <p14:creationId xmlns:p14="http://schemas.microsoft.com/office/powerpoint/2010/main" val="42839976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C77820-038B-7C7E-8881-F05018D26ABD}"/>
              </a:ext>
            </a:extLst>
          </p:cNvPr>
          <p:cNvSpPr>
            <a:spLocks noGrp="1"/>
          </p:cNvSpPr>
          <p:nvPr>
            <p:ph type="title"/>
          </p:nvPr>
        </p:nvSpPr>
        <p:spPr>
          <a:xfrm>
            <a:off x="838200" y="590206"/>
            <a:ext cx="10515600" cy="1325563"/>
          </a:xfrm>
        </p:spPr>
        <p:txBody>
          <a:bodyPr/>
          <a:lstStyle/>
          <a:p>
            <a:pPr algn="ctr"/>
            <a:r>
              <a:rPr lang="pt-BR" b="1" dirty="0">
                <a:latin typeface="Arial" panose="020B0604020202020204" pitchFamily="34" charset="0"/>
                <a:cs typeface="Arial" panose="020B0604020202020204" pitchFamily="34" charset="0"/>
              </a:rPr>
              <a:t>Aula 3 – Arquitetura de software</a:t>
            </a:r>
          </a:p>
        </p:txBody>
      </p:sp>
      <p:sp>
        <p:nvSpPr>
          <p:cNvPr id="3" name="Espaço Reservado para Conteúdo 2">
            <a:extLst>
              <a:ext uri="{FF2B5EF4-FFF2-40B4-BE49-F238E27FC236}">
                <a16:creationId xmlns:a16="http://schemas.microsoft.com/office/drawing/2014/main" id="{A4A57165-1F9E-2CCC-7F43-077B3C1E8CF9}"/>
              </a:ext>
            </a:extLst>
          </p:cNvPr>
          <p:cNvSpPr>
            <a:spLocks noGrp="1"/>
          </p:cNvSpPr>
          <p:nvPr>
            <p:ph idx="1"/>
          </p:nvPr>
        </p:nvSpPr>
        <p:spPr/>
        <p:txBody>
          <a:bodyPr>
            <a:normAutofit/>
          </a:bodyPr>
          <a:lstStyle/>
          <a:p>
            <a:pPr marL="0" indent="0" algn="just">
              <a:lnSpc>
                <a:spcPct val="150000"/>
              </a:lnSpc>
              <a:buNone/>
            </a:pPr>
            <a:r>
              <a:rPr lang="pt-BR" sz="2400" dirty="0">
                <a:latin typeface="Arial" panose="020B0604020202020204" pitchFamily="34" charset="0"/>
                <a:cs typeface="Arial" panose="020B0604020202020204" pitchFamily="34" charset="0"/>
              </a:rPr>
              <a:t>	</a:t>
            </a:r>
            <a:r>
              <a:rPr lang="pt-BR" b="0" i="0" dirty="0">
                <a:solidFill>
                  <a:srgbClr val="222222"/>
                </a:solidFill>
                <a:effectLst/>
                <a:latin typeface="Arial" panose="020B0604020202020204" pitchFamily="34" charset="0"/>
                <a:cs typeface="Arial" panose="020B0604020202020204" pitchFamily="34" charset="0"/>
              </a:rPr>
              <a:t>Arquitetura de software é um conceito abstrato, que </a:t>
            </a:r>
            <a:r>
              <a:rPr lang="pt-BR" i="0" dirty="0">
                <a:solidFill>
                  <a:srgbClr val="222222"/>
                </a:solidFill>
                <a:effectLst/>
                <a:latin typeface="Arial" panose="020B0604020202020204" pitchFamily="34" charset="0"/>
                <a:cs typeface="Arial" panose="020B0604020202020204" pitchFamily="34" charset="0"/>
              </a:rPr>
              <a:t>se refere à organização de um sistema</a:t>
            </a:r>
            <a:r>
              <a:rPr lang="pt-BR" b="0" i="0" dirty="0">
                <a:solidFill>
                  <a:srgbClr val="222222"/>
                </a:solidFill>
                <a:effectLst/>
                <a:latin typeface="Arial" panose="020B0604020202020204" pitchFamily="34" charset="0"/>
                <a:cs typeface="Arial" panose="020B0604020202020204" pitchFamily="34" charset="0"/>
              </a:rPr>
              <a:t>. Ela é responsável por definir os componentes que farão parte de um projeto, suas características, funções e a forma como devem interagir entre si e com outros softwares.</a:t>
            </a:r>
            <a:endParaRPr lang="pt-BR" sz="4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440747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C77820-038B-7C7E-8881-F05018D26ABD}"/>
              </a:ext>
            </a:extLst>
          </p:cNvPr>
          <p:cNvSpPr>
            <a:spLocks noGrp="1"/>
          </p:cNvSpPr>
          <p:nvPr>
            <p:ph type="title"/>
          </p:nvPr>
        </p:nvSpPr>
        <p:spPr>
          <a:xfrm>
            <a:off x="838200" y="604274"/>
            <a:ext cx="10515600" cy="1325563"/>
          </a:xfrm>
        </p:spPr>
        <p:txBody>
          <a:bodyPr/>
          <a:lstStyle/>
          <a:p>
            <a:pPr algn="ctr"/>
            <a:r>
              <a:rPr lang="pt-BR" b="1" dirty="0">
                <a:latin typeface="Arial" panose="020B0604020202020204" pitchFamily="34" charset="0"/>
                <a:cs typeface="Arial" panose="020B0604020202020204" pitchFamily="34" charset="0"/>
              </a:rPr>
              <a:t>Aula 3 – Arquitetura de software</a:t>
            </a:r>
          </a:p>
        </p:txBody>
      </p:sp>
      <p:sp>
        <p:nvSpPr>
          <p:cNvPr id="3" name="Espaço Reservado para Conteúdo 2">
            <a:extLst>
              <a:ext uri="{FF2B5EF4-FFF2-40B4-BE49-F238E27FC236}">
                <a16:creationId xmlns:a16="http://schemas.microsoft.com/office/drawing/2014/main" id="{A4A57165-1F9E-2CCC-7F43-077B3C1E8CF9}"/>
              </a:ext>
            </a:extLst>
          </p:cNvPr>
          <p:cNvSpPr>
            <a:spLocks noGrp="1"/>
          </p:cNvSpPr>
          <p:nvPr>
            <p:ph idx="1"/>
          </p:nvPr>
        </p:nvSpPr>
        <p:spPr>
          <a:xfrm>
            <a:off x="295422" y="1825625"/>
            <a:ext cx="11635153" cy="4800258"/>
          </a:xfrm>
        </p:spPr>
        <p:txBody>
          <a:bodyPr>
            <a:noAutofit/>
          </a:bodyPr>
          <a:lstStyle/>
          <a:p>
            <a:pPr marL="0" indent="0" algn="just">
              <a:lnSpc>
                <a:spcPct val="150000"/>
              </a:lnSpc>
              <a:buNone/>
            </a:pPr>
            <a:r>
              <a:rPr lang="pt-BR" sz="2000" dirty="0">
                <a:latin typeface="Arial" panose="020B0604020202020204" pitchFamily="34" charset="0"/>
                <a:cs typeface="Arial" panose="020B0604020202020204" pitchFamily="34" charset="0"/>
              </a:rPr>
              <a:t>	</a:t>
            </a:r>
            <a:r>
              <a:rPr lang="pt-BR" sz="1900" b="0" i="0" dirty="0">
                <a:solidFill>
                  <a:srgbClr val="222222"/>
                </a:solidFill>
                <a:effectLst/>
                <a:latin typeface="Arial" panose="020B0604020202020204" pitchFamily="34" charset="0"/>
                <a:cs typeface="Arial" panose="020B0604020202020204" pitchFamily="34" charset="0"/>
              </a:rPr>
              <a:t>Esta área da TI é responsável pela análise estratégica dos componentes operacionais que permitem criar soluções viáveis para uma </a:t>
            </a:r>
            <a:r>
              <a:rPr lang="pt-BR" sz="1900" i="0" dirty="0">
                <a:solidFill>
                  <a:srgbClr val="222222"/>
                </a:solidFill>
                <a:effectLst/>
                <a:latin typeface="Arial" panose="020B0604020202020204" pitchFamily="34" charset="0"/>
                <a:cs typeface="Arial" panose="020B0604020202020204" pitchFamily="34" charset="0"/>
              </a:rPr>
              <a:t>tecnologia</a:t>
            </a:r>
            <a:r>
              <a:rPr lang="pt-BR" sz="1900" b="0" i="0" dirty="0">
                <a:solidFill>
                  <a:srgbClr val="222222"/>
                </a:solidFill>
                <a:effectLst/>
                <a:latin typeface="Arial" panose="020B0604020202020204" pitchFamily="34" charset="0"/>
                <a:cs typeface="Arial" panose="020B0604020202020204" pitchFamily="34" charset="0"/>
              </a:rPr>
              <a:t>. Para isso, leva em conta aspectos como: </a:t>
            </a:r>
          </a:p>
          <a:p>
            <a:pPr algn="just">
              <a:lnSpc>
                <a:spcPct val="150000"/>
              </a:lnSpc>
            </a:pPr>
            <a:r>
              <a:rPr lang="pt-BR" sz="1900" dirty="0">
                <a:solidFill>
                  <a:srgbClr val="222222"/>
                </a:solidFill>
                <a:latin typeface="Arial" panose="020B0604020202020204" pitchFamily="34" charset="0"/>
                <a:cs typeface="Arial" panose="020B0604020202020204" pitchFamily="34" charset="0"/>
              </a:rPr>
              <a:t>D</a:t>
            </a:r>
            <a:r>
              <a:rPr lang="pt-BR" sz="1900" b="0" i="0" dirty="0">
                <a:solidFill>
                  <a:srgbClr val="222222"/>
                </a:solidFill>
                <a:effectLst/>
                <a:latin typeface="Arial" panose="020B0604020202020204" pitchFamily="34" charset="0"/>
                <a:cs typeface="Arial" panose="020B0604020202020204" pitchFamily="34" charset="0"/>
              </a:rPr>
              <a:t>esempenho;</a:t>
            </a:r>
          </a:p>
          <a:p>
            <a:pPr algn="just">
              <a:lnSpc>
                <a:spcPct val="150000"/>
              </a:lnSpc>
            </a:pPr>
            <a:r>
              <a:rPr lang="pt-BR" sz="1900" dirty="0">
                <a:solidFill>
                  <a:srgbClr val="222222"/>
                </a:solidFill>
                <a:latin typeface="Arial" panose="020B0604020202020204" pitchFamily="34" charset="0"/>
                <a:cs typeface="Arial" panose="020B0604020202020204" pitchFamily="34" charset="0"/>
              </a:rPr>
              <a:t>E</a:t>
            </a:r>
            <a:r>
              <a:rPr lang="pt-BR" sz="1900" b="0" i="0" dirty="0">
                <a:solidFill>
                  <a:srgbClr val="222222"/>
                </a:solidFill>
                <a:effectLst/>
                <a:latin typeface="Arial" panose="020B0604020202020204" pitchFamily="34" charset="0"/>
                <a:cs typeface="Arial" panose="020B0604020202020204" pitchFamily="34" charset="0"/>
              </a:rPr>
              <a:t>scalabilidade;</a:t>
            </a:r>
          </a:p>
          <a:p>
            <a:pPr algn="just">
              <a:lnSpc>
                <a:spcPct val="150000"/>
              </a:lnSpc>
            </a:pPr>
            <a:r>
              <a:rPr lang="pt-BR" sz="1900" dirty="0">
                <a:solidFill>
                  <a:srgbClr val="222222"/>
                </a:solidFill>
                <a:latin typeface="Arial" panose="020B0604020202020204" pitchFamily="34" charset="0"/>
                <a:cs typeface="Arial" panose="020B0604020202020204" pitchFamily="34" charset="0"/>
              </a:rPr>
              <a:t>I</a:t>
            </a:r>
            <a:r>
              <a:rPr lang="pt-BR" sz="1900" b="0" i="0" dirty="0">
                <a:solidFill>
                  <a:srgbClr val="222222"/>
                </a:solidFill>
                <a:effectLst/>
                <a:latin typeface="Arial" panose="020B0604020202020204" pitchFamily="34" charset="0"/>
                <a:cs typeface="Arial" panose="020B0604020202020204" pitchFamily="34" charset="0"/>
              </a:rPr>
              <a:t>nteroperabilidade;</a:t>
            </a:r>
          </a:p>
          <a:p>
            <a:pPr algn="just">
              <a:lnSpc>
                <a:spcPct val="150000"/>
              </a:lnSpc>
            </a:pPr>
            <a:r>
              <a:rPr lang="pt-BR" sz="1900" b="0" i="0" dirty="0">
                <a:solidFill>
                  <a:srgbClr val="222222"/>
                </a:solidFill>
                <a:effectLst/>
                <a:latin typeface="Arial" panose="020B0604020202020204" pitchFamily="34" charset="0"/>
                <a:cs typeface="Arial" panose="020B0604020202020204" pitchFamily="34" charset="0"/>
              </a:rPr>
              <a:t>Compatibilidade;</a:t>
            </a:r>
          </a:p>
          <a:p>
            <a:pPr algn="just">
              <a:lnSpc>
                <a:spcPct val="150000"/>
              </a:lnSpc>
            </a:pPr>
            <a:r>
              <a:rPr lang="pt-BR" sz="1900" dirty="0">
                <a:solidFill>
                  <a:srgbClr val="222222"/>
                </a:solidFill>
                <a:latin typeface="Arial" panose="020B0604020202020204" pitchFamily="34" charset="0"/>
                <a:cs typeface="Arial" panose="020B0604020202020204" pitchFamily="34" charset="0"/>
              </a:rPr>
              <a:t>P</a:t>
            </a:r>
            <a:r>
              <a:rPr lang="pt-BR" sz="1900" b="0" i="0" dirty="0">
                <a:solidFill>
                  <a:srgbClr val="222222"/>
                </a:solidFill>
                <a:effectLst/>
                <a:latin typeface="Arial" panose="020B0604020202020204" pitchFamily="34" charset="0"/>
                <a:cs typeface="Arial" panose="020B0604020202020204" pitchFamily="34" charset="0"/>
              </a:rPr>
              <a:t>erformance.</a:t>
            </a:r>
          </a:p>
          <a:p>
            <a:pPr marL="0" indent="0" algn="just">
              <a:lnSpc>
                <a:spcPct val="150000"/>
              </a:lnSpc>
              <a:buNone/>
            </a:pPr>
            <a:r>
              <a:rPr lang="pt-BR" sz="1900" b="0" i="0" dirty="0">
                <a:solidFill>
                  <a:srgbClr val="222222"/>
                </a:solidFill>
                <a:effectLst/>
                <a:latin typeface="Arial" panose="020B0604020202020204" pitchFamily="34" charset="0"/>
                <a:cs typeface="Arial" panose="020B0604020202020204" pitchFamily="34" charset="0"/>
              </a:rPr>
              <a:t>	Essa parte é essencial, pois otimiza o trabalho dos designers e desenvolvedores, permitindo que uma aplicação esteja dentro dos padrões básicos necessários para funcionar de forma satisfatória.</a:t>
            </a:r>
          </a:p>
          <a:p>
            <a:pPr marL="0" indent="0" algn="just">
              <a:lnSpc>
                <a:spcPct val="150000"/>
              </a:lnSpc>
              <a:buNone/>
            </a:pPr>
            <a:endParaRPr lang="pt-BR"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49071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C77820-038B-7C7E-8881-F05018D26ABD}"/>
              </a:ext>
            </a:extLst>
          </p:cNvPr>
          <p:cNvSpPr>
            <a:spLocks noGrp="1"/>
          </p:cNvSpPr>
          <p:nvPr>
            <p:ph type="title"/>
          </p:nvPr>
        </p:nvSpPr>
        <p:spPr>
          <a:xfrm>
            <a:off x="838200" y="590206"/>
            <a:ext cx="10515600" cy="1325563"/>
          </a:xfrm>
        </p:spPr>
        <p:txBody>
          <a:bodyPr/>
          <a:lstStyle/>
          <a:p>
            <a:pPr algn="ctr"/>
            <a:r>
              <a:rPr lang="pt-BR" b="1" dirty="0">
                <a:latin typeface="Arial" panose="020B0604020202020204" pitchFamily="34" charset="0"/>
                <a:cs typeface="Arial" panose="020B0604020202020204" pitchFamily="34" charset="0"/>
              </a:rPr>
              <a:t>Aula 3 – Arquitetura de software</a:t>
            </a:r>
          </a:p>
        </p:txBody>
      </p:sp>
      <p:sp>
        <p:nvSpPr>
          <p:cNvPr id="3" name="Espaço Reservado para Conteúdo 2">
            <a:extLst>
              <a:ext uri="{FF2B5EF4-FFF2-40B4-BE49-F238E27FC236}">
                <a16:creationId xmlns:a16="http://schemas.microsoft.com/office/drawing/2014/main" id="{A4A57165-1F9E-2CCC-7F43-077B3C1E8CF9}"/>
              </a:ext>
            </a:extLst>
          </p:cNvPr>
          <p:cNvSpPr>
            <a:spLocks noGrp="1"/>
          </p:cNvSpPr>
          <p:nvPr>
            <p:ph idx="1"/>
          </p:nvPr>
        </p:nvSpPr>
        <p:spPr>
          <a:xfrm>
            <a:off x="239152" y="1797488"/>
            <a:ext cx="11621087" cy="4856529"/>
          </a:xfrm>
        </p:spPr>
        <p:txBody>
          <a:bodyPr>
            <a:normAutofit/>
          </a:bodyPr>
          <a:lstStyle/>
          <a:p>
            <a:pPr marL="0" indent="0" algn="just">
              <a:lnSpc>
                <a:spcPct val="150000"/>
              </a:lnSpc>
              <a:buNone/>
            </a:pPr>
            <a:r>
              <a:rPr lang="pt-BR" sz="2100" dirty="0">
                <a:latin typeface="Arial" panose="020B0604020202020204" pitchFamily="34" charset="0"/>
                <a:cs typeface="Arial" panose="020B0604020202020204" pitchFamily="34" charset="0"/>
              </a:rPr>
              <a:t>	A Arquitetura de software teve origem n</a:t>
            </a:r>
            <a:r>
              <a:rPr lang="pt-BR" sz="2100" b="0" i="0" dirty="0">
                <a:solidFill>
                  <a:srgbClr val="222222"/>
                </a:solidFill>
                <a:effectLst/>
                <a:latin typeface="Arial" panose="020B0604020202020204" pitchFamily="34" charset="0"/>
                <a:cs typeface="Arial" panose="020B0604020202020204" pitchFamily="34" charset="0"/>
              </a:rPr>
              <a:t>o fim da década de 1960, cientistas começaram a pesquisar mais sobre o conceito e padrões da arquitetura de software. A ideia era enfatizar a importância de estruturar um sistema antes de seu desenvolvimento. Porém, foi apenas nos anos 1990 que os estudos desta área evoluíram.</a:t>
            </a:r>
          </a:p>
          <a:p>
            <a:pPr marL="0" indent="0" algn="just">
              <a:lnSpc>
                <a:spcPct val="150000"/>
              </a:lnSpc>
              <a:buNone/>
            </a:pPr>
            <a:r>
              <a:rPr lang="pt-BR" sz="2100" b="0" i="0" dirty="0">
                <a:solidFill>
                  <a:srgbClr val="222222"/>
                </a:solidFill>
                <a:effectLst/>
                <a:latin typeface="Arial" panose="020B0604020202020204" pitchFamily="34" charset="0"/>
                <a:cs typeface="Arial" panose="020B0604020202020204" pitchFamily="34" charset="0"/>
              </a:rPr>
              <a:t>	Mais tarde, a área evoluiu drasticamente, após a criação da primeira norma padrão, mais conhecida como </a:t>
            </a:r>
            <a:r>
              <a:rPr lang="pt-BR" sz="2100" b="1" i="0" dirty="0">
                <a:solidFill>
                  <a:srgbClr val="222222"/>
                </a:solidFill>
                <a:effectLst/>
                <a:latin typeface="Arial" panose="020B0604020202020204" pitchFamily="34" charset="0"/>
                <a:cs typeface="Arial" panose="020B0604020202020204" pitchFamily="34" charset="0"/>
              </a:rPr>
              <a:t>ISO/IEEE 1471-2000</a:t>
            </a:r>
            <a:r>
              <a:rPr lang="pt-BR" sz="2100" b="0" i="0" dirty="0">
                <a:solidFill>
                  <a:srgbClr val="222222"/>
                </a:solidFill>
                <a:effectLst/>
                <a:latin typeface="Arial" panose="020B0604020202020204" pitchFamily="34" charset="0"/>
                <a:cs typeface="Arial" panose="020B0604020202020204" pitchFamily="34" charset="0"/>
              </a:rPr>
              <a:t>, que significa uma arquitetura de organização fundamental de um sistema.</a:t>
            </a:r>
          </a:p>
          <a:p>
            <a:pPr marL="0" indent="0" algn="just">
              <a:lnSpc>
                <a:spcPct val="150000"/>
              </a:lnSpc>
              <a:buNone/>
            </a:pPr>
            <a:r>
              <a:rPr lang="pt-BR" sz="2100" dirty="0">
                <a:solidFill>
                  <a:srgbClr val="222222"/>
                </a:solidFill>
                <a:latin typeface="Arial" panose="020B0604020202020204" pitchFamily="34" charset="0"/>
                <a:cs typeface="Arial" panose="020B0604020202020204" pitchFamily="34" charset="0"/>
              </a:rPr>
              <a:t>	</a:t>
            </a:r>
            <a:r>
              <a:rPr lang="pt-BR" sz="2000" b="0" i="0" dirty="0">
                <a:solidFill>
                  <a:srgbClr val="222222"/>
                </a:solidFill>
                <a:effectLst/>
                <a:latin typeface="Arial" panose="020B0604020202020204" pitchFamily="34" charset="0"/>
                <a:cs typeface="Arial" panose="020B0604020202020204" pitchFamily="34" charset="0"/>
              </a:rPr>
              <a:t>Para as empresas, a arquitetura de software tem o objetivo de atender a uma visão orientada aos negócios.</a:t>
            </a:r>
            <a:endParaRPr lang="pt-BR" b="0" i="0" dirty="0">
              <a:solidFill>
                <a:srgbClr val="222222"/>
              </a:solidFill>
              <a:effectLst/>
              <a:latin typeface="Arial" panose="020B0604020202020204" pitchFamily="34" charset="0"/>
              <a:cs typeface="Arial" panose="020B0604020202020204" pitchFamily="34" charset="0"/>
            </a:endParaRPr>
          </a:p>
          <a:p>
            <a:pPr marL="0" indent="0" algn="just">
              <a:lnSpc>
                <a:spcPct val="150000"/>
              </a:lnSpc>
              <a:buNone/>
            </a:pPr>
            <a:endParaRPr lang="pt-BR" sz="4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014256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C77820-038B-7C7E-8881-F05018D26ABD}"/>
              </a:ext>
            </a:extLst>
          </p:cNvPr>
          <p:cNvSpPr>
            <a:spLocks noGrp="1"/>
          </p:cNvSpPr>
          <p:nvPr>
            <p:ph type="title"/>
          </p:nvPr>
        </p:nvSpPr>
        <p:spPr>
          <a:xfrm>
            <a:off x="838200" y="590206"/>
            <a:ext cx="10515600" cy="1325563"/>
          </a:xfrm>
        </p:spPr>
        <p:txBody>
          <a:bodyPr/>
          <a:lstStyle/>
          <a:p>
            <a:pPr algn="ctr"/>
            <a:r>
              <a:rPr lang="pt-BR" b="1" dirty="0">
                <a:latin typeface="Arial" panose="020B0604020202020204" pitchFamily="34" charset="0"/>
                <a:cs typeface="Arial" panose="020B0604020202020204" pitchFamily="34" charset="0"/>
              </a:rPr>
              <a:t>Aula 3 – Arquitetura de software</a:t>
            </a:r>
          </a:p>
        </p:txBody>
      </p:sp>
      <p:sp>
        <p:nvSpPr>
          <p:cNvPr id="3" name="Espaço Reservado para Conteúdo 2">
            <a:extLst>
              <a:ext uri="{FF2B5EF4-FFF2-40B4-BE49-F238E27FC236}">
                <a16:creationId xmlns:a16="http://schemas.microsoft.com/office/drawing/2014/main" id="{A4A57165-1F9E-2CCC-7F43-077B3C1E8CF9}"/>
              </a:ext>
            </a:extLst>
          </p:cNvPr>
          <p:cNvSpPr>
            <a:spLocks noGrp="1"/>
          </p:cNvSpPr>
          <p:nvPr>
            <p:ph idx="1"/>
          </p:nvPr>
        </p:nvSpPr>
        <p:spPr>
          <a:xfrm>
            <a:off x="239152" y="1727148"/>
            <a:ext cx="11621087" cy="5011277"/>
          </a:xfrm>
        </p:spPr>
        <p:txBody>
          <a:bodyPr>
            <a:noAutofit/>
          </a:bodyPr>
          <a:lstStyle/>
          <a:p>
            <a:pPr marL="0" indent="0" algn="just">
              <a:lnSpc>
                <a:spcPct val="150000"/>
              </a:lnSpc>
              <a:spcBef>
                <a:spcPts val="0"/>
              </a:spcBef>
              <a:buNone/>
            </a:pPr>
            <a:r>
              <a:rPr lang="pt-BR" sz="1800" dirty="0">
                <a:latin typeface="Arial" panose="020B0604020202020204" pitchFamily="34" charset="0"/>
                <a:cs typeface="Arial" panose="020B0604020202020204" pitchFamily="34" charset="0"/>
              </a:rPr>
              <a:t>	</a:t>
            </a:r>
            <a:r>
              <a:rPr lang="pt-BR" sz="2000" dirty="0">
                <a:latin typeface="Arial" panose="020B0604020202020204" pitchFamily="34" charset="0"/>
                <a:cs typeface="Arial" panose="020B0604020202020204" pitchFamily="34" charset="0"/>
              </a:rPr>
              <a:t>A</a:t>
            </a:r>
            <a:r>
              <a:rPr lang="pt-BR" sz="2000" b="0" i="0" dirty="0">
                <a:solidFill>
                  <a:srgbClr val="222222"/>
                </a:solidFill>
                <a:effectLst/>
                <a:latin typeface="Arial" panose="020B0604020202020204" pitchFamily="34" charset="0"/>
                <a:cs typeface="Arial" panose="020B0604020202020204" pitchFamily="34" charset="0"/>
              </a:rPr>
              <a:t> arquitetura de software é indispensável para qualquer empresa que deseja se manter competitiva em um mercado cada vez mais digital. Dentre as principais vantagens que os modelos de arquitetura de software proporcionam para uma empresa, temos:</a:t>
            </a:r>
          </a:p>
          <a:p>
            <a:pPr algn="just">
              <a:lnSpc>
                <a:spcPct val="150000"/>
              </a:lnSpc>
              <a:spcBef>
                <a:spcPts val="0"/>
              </a:spcBef>
            </a:pPr>
            <a:r>
              <a:rPr lang="pt-BR" sz="2000" b="0" i="0" dirty="0">
                <a:solidFill>
                  <a:srgbClr val="222222"/>
                </a:solidFill>
                <a:effectLst/>
                <a:latin typeface="Arial" panose="020B0604020202020204" pitchFamily="34" charset="0"/>
                <a:cs typeface="Arial" panose="020B0604020202020204" pitchFamily="34" charset="0"/>
              </a:rPr>
              <a:t>Redução de riscos para o negócio;</a:t>
            </a:r>
          </a:p>
          <a:p>
            <a:pPr algn="just">
              <a:lnSpc>
                <a:spcPct val="150000"/>
              </a:lnSpc>
              <a:spcBef>
                <a:spcPts val="0"/>
              </a:spcBef>
            </a:pPr>
            <a:r>
              <a:rPr lang="pt-BR" sz="2000" b="0" i="0" dirty="0">
                <a:solidFill>
                  <a:srgbClr val="222222"/>
                </a:solidFill>
                <a:effectLst/>
                <a:latin typeface="Arial" panose="020B0604020202020204" pitchFamily="34" charset="0"/>
                <a:cs typeface="Arial" panose="020B0604020202020204" pitchFamily="34" charset="0"/>
              </a:rPr>
              <a:t>Alinhamento de expectativas entre os diferentes setores da empresa;</a:t>
            </a:r>
          </a:p>
          <a:p>
            <a:pPr algn="just">
              <a:lnSpc>
                <a:spcPct val="150000"/>
              </a:lnSpc>
              <a:spcBef>
                <a:spcPts val="0"/>
              </a:spcBef>
            </a:pPr>
            <a:r>
              <a:rPr lang="pt-BR" sz="2000" b="0" i="0" dirty="0">
                <a:solidFill>
                  <a:srgbClr val="222222"/>
                </a:solidFill>
                <a:effectLst/>
                <a:latin typeface="Arial" panose="020B0604020202020204" pitchFamily="34" charset="0"/>
                <a:cs typeface="Arial" panose="020B0604020202020204" pitchFamily="34" charset="0"/>
              </a:rPr>
              <a:t>Construção de aplicações flexíveis e de alta qualidade;</a:t>
            </a:r>
          </a:p>
          <a:p>
            <a:pPr algn="just">
              <a:lnSpc>
                <a:spcPct val="150000"/>
              </a:lnSpc>
              <a:spcBef>
                <a:spcPts val="0"/>
              </a:spcBef>
            </a:pPr>
            <a:r>
              <a:rPr lang="pt-BR" sz="2000" b="0" i="0" dirty="0">
                <a:solidFill>
                  <a:srgbClr val="222222"/>
                </a:solidFill>
                <a:effectLst/>
                <a:latin typeface="Arial" panose="020B0604020202020204" pitchFamily="34" charset="0"/>
                <a:cs typeface="Arial" panose="020B0604020202020204" pitchFamily="34" charset="0"/>
              </a:rPr>
              <a:t>Possibilidade de integração com diferentes linguagens e sistemas;</a:t>
            </a:r>
          </a:p>
          <a:p>
            <a:pPr algn="just">
              <a:lnSpc>
                <a:spcPct val="150000"/>
              </a:lnSpc>
              <a:spcBef>
                <a:spcPts val="0"/>
              </a:spcBef>
            </a:pPr>
            <a:r>
              <a:rPr lang="pt-BR" sz="2000" b="0" i="0" dirty="0">
                <a:solidFill>
                  <a:srgbClr val="222222"/>
                </a:solidFill>
                <a:effectLst/>
                <a:latin typeface="Arial" panose="020B0604020202020204" pitchFamily="34" charset="0"/>
                <a:cs typeface="Arial" panose="020B0604020202020204" pitchFamily="34" charset="0"/>
              </a:rPr>
              <a:t>Maior nível de segurança para as aplicações desenvolvidas.</a:t>
            </a:r>
          </a:p>
          <a:p>
            <a:pPr marL="0" indent="0" algn="just">
              <a:lnSpc>
                <a:spcPct val="150000"/>
              </a:lnSpc>
              <a:spcBef>
                <a:spcPts val="0"/>
              </a:spcBef>
              <a:buNone/>
            </a:pPr>
            <a:r>
              <a:rPr lang="pt-BR" sz="2000" dirty="0">
                <a:solidFill>
                  <a:srgbClr val="222222"/>
                </a:solidFill>
                <a:latin typeface="Arial" panose="020B0604020202020204" pitchFamily="34" charset="0"/>
                <a:cs typeface="Arial" panose="020B0604020202020204" pitchFamily="34" charset="0"/>
              </a:rPr>
              <a:t>	D</a:t>
            </a:r>
            <a:r>
              <a:rPr lang="pt-BR" sz="2000" b="0" i="0" dirty="0">
                <a:solidFill>
                  <a:srgbClr val="222222"/>
                </a:solidFill>
                <a:effectLst/>
                <a:latin typeface="Arial" panose="020B0604020202020204" pitchFamily="34" charset="0"/>
                <a:cs typeface="Arial" panose="020B0604020202020204" pitchFamily="34" charset="0"/>
              </a:rPr>
              <a:t>iferentemente de algumas áreas, a arquitetura de software é indispensável nas organizações, principalmente àquelas que têm a tecnologia como premissa no modelo de negócio. Exemplo disso são marcas como o </a:t>
            </a:r>
            <a:r>
              <a:rPr lang="pt-BR" sz="2000" b="0" i="0" dirty="0" err="1">
                <a:solidFill>
                  <a:srgbClr val="222222"/>
                </a:solidFill>
                <a:effectLst/>
                <a:latin typeface="Arial" panose="020B0604020202020204" pitchFamily="34" charset="0"/>
                <a:cs typeface="Arial" panose="020B0604020202020204" pitchFamily="34" charset="0"/>
              </a:rPr>
              <a:t>Nubank</a:t>
            </a:r>
            <a:r>
              <a:rPr lang="pt-BR" sz="2000" b="0" i="0" dirty="0">
                <a:solidFill>
                  <a:srgbClr val="222222"/>
                </a:solidFill>
                <a:effectLst/>
                <a:latin typeface="Arial" panose="020B0604020202020204" pitchFamily="34" charset="0"/>
                <a:cs typeface="Arial" panose="020B0604020202020204" pitchFamily="34" charset="0"/>
              </a:rPr>
              <a:t>, Facebook, Uber, Slack e os Correios.</a:t>
            </a:r>
          </a:p>
        </p:txBody>
      </p:sp>
    </p:spTree>
    <p:extLst>
      <p:ext uri="{BB962C8B-B14F-4D97-AF65-F5344CB8AC3E}">
        <p14:creationId xmlns:p14="http://schemas.microsoft.com/office/powerpoint/2010/main" val="2384629253"/>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TotalTime>
  <Words>390</Words>
  <Application>Microsoft Office PowerPoint</Application>
  <PresentationFormat>Widescreen</PresentationFormat>
  <Paragraphs>22</Paragraphs>
  <Slides>4</Slides>
  <Notes>0</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4</vt:i4>
      </vt:variant>
    </vt:vector>
  </HeadingPairs>
  <TitlesOfParts>
    <vt:vector size="8" baseType="lpstr">
      <vt:lpstr>Arial</vt:lpstr>
      <vt:lpstr>Calibri</vt:lpstr>
      <vt:lpstr>Calibri Light</vt:lpstr>
      <vt:lpstr>Tema do Office</vt:lpstr>
      <vt:lpstr>Aula 3 – Arquitetura de software</vt:lpstr>
      <vt:lpstr>Aula 3 – Arquitetura de software</vt:lpstr>
      <vt:lpstr>Aula 3 – Arquitetura de software</vt:lpstr>
      <vt:lpstr>Aula 3 – Arquitetura de software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da disciplina</dc:title>
  <dc:creator>ALCIANO GUSTAVO GENOVEZ DE OLIVEIRA</dc:creator>
  <cp:lastModifiedBy>ALCIANO GUSTAVO GENOVEZ DE OLIVEIRA</cp:lastModifiedBy>
  <cp:revision>11</cp:revision>
  <dcterms:created xsi:type="dcterms:W3CDTF">2023-01-23T18:27:14Z</dcterms:created>
  <dcterms:modified xsi:type="dcterms:W3CDTF">2023-01-24T16:58:17Z</dcterms:modified>
</cp:coreProperties>
</file>