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0" r:id="rId3"/>
    <p:sldId id="262" r:id="rId4"/>
    <p:sldId id="261" r:id="rId5"/>
    <p:sldId id="263" r:id="rId6"/>
    <p:sldId id="264" r:id="rId7"/>
    <p:sldId id="265" r:id="rId8"/>
    <p:sldId id="266" r:id="rId9"/>
    <p:sldId id="267" r:id="rId10"/>
    <p:sldId id="268" r:id="rId11"/>
    <p:sldId id="269" r:id="rId12"/>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E1E142-74BC-926F-E2EB-77FBA875BFFC}"/>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A681E985-7D4C-AA0D-A4AC-B1D337F4A2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9373DC81-4AAB-2884-556F-76996698BD35}"/>
              </a:ext>
            </a:extLst>
          </p:cNvPr>
          <p:cNvSpPr>
            <a:spLocks noGrp="1"/>
          </p:cNvSpPr>
          <p:nvPr>
            <p:ph type="dt" sz="half" idx="10"/>
          </p:nvPr>
        </p:nvSpPr>
        <p:spPr/>
        <p:txBody>
          <a:bodyPr/>
          <a:lstStyle/>
          <a:p>
            <a:fld id="{FF9620AA-6E5F-4125-B41F-3E3AEED7F1AA}" type="datetimeFigureOut">
              <a:rPr lang="pt-BR" smtClean="0"/>
              <a:t>31/01/2025</a:t>
            </a:fld>
            <a:endParaRPr lang="pt-BR"/>
          </a:p>
        </p:txBody>
      </p:sp>
      <p:sp>
        <p:nvSpPr>
          <p:cNvPr id="5" name="Espaço Reservado para Rodapé 4">
            <a:extLst>
              <a:ext uri="{FF2B5EF4-FFF2-40B4-BE49-F238E27FC236}">
                <a16:creationId xmlns:a16="http://schemas.microsoft.com/office/drawing/2014/main" id="{5715AAFB-C79B-746C-9791-D5E15668706D}"/>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3DBE9DBC-93D8-C890-6F27-4AACFA98E804}"/>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2445403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0B30A5-6F4F-66C4-2342-1A838543BFF8}"/>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EFA61E31-A0DD-B6F9-FA15-A25A652B8995}"/>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AB91EC2-1E4E-B287-D094-0154CA46F2FA}"/>
              </a:ext>
            </a:extLst>
          </p:cNvPr>
          <p:cNvSpPr>
            <a:spLocks noGrp="1"/>
          </p:cNvSpPr>
          <p:nvPr>
            <p:ph type="dt" sz="half" idx="10"/>
          </p:nvPr>
        </p:nvSpPr>
        <p:spPr/>
        <p:txBody>
          <a:bodyPr/>
          <a:lstStyle/>
          <a:p>
            <a:fld id="{FF9620AA-6E5F-4125-B41F-3E3AEED7F1AA}" type="datetimeFigureOut">
              <a:rPr lang="pt-BR" smtClean="0"/>
              <a:t>31/01/2025</a:t>
            </a:fld>
            <a:endParaRPr lang="pt-BR"/>
          </a:p>
        </p:txBody>
      </p:sp>
      <p:sp>
        <p:nvSpPr>
          <p:cNvPr id="5" name="Espaço Reservado para Rodapé 4">
            <a:extLst>
              <a:ext uri="{FF2B5EF4-FFF2-40B4-BE49-F238E27FC236}">
                <a16:creationId xmlns:a16="http://schemas.microsoft.com/office/drawing/2014/main" id="{36A0734E-38A2-5881-B06B-C89B3999843C}"/>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95FAE09-B0D2-4DA9-5791-751BBE09A74F}"/>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32494469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728C34-41C9-39EF-C9A0-38CC64E46473}"/>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1C8C2751-ABE4-EE58-3D1C-1B9221757F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432514B5-4CB2-8C65-1C0A-CF342AE43C6F}"/>
              </a:ext>
            </a:extLst>
          </p:cNvPr>
          <p:cNvSpPr>
            <a:spLocks noGrp="1"/>
          </p:cNvSpPr>
          <p:nvPr>
            <p:ph type="dt" sz="half" idx="10"/>
          </p:nvPr>
        </p:nvSpPr>
        <p:spPr/>
        <p:txBody>
          <a:bodyPr/>
          <a:lstStyle/>
          <a:p>
            <a:fld id="{FF9620AA-6E5F-4125-B41F-3E3AEED7F1AA}" type="datetimeFigureOut">
              <a:rPr lang="pt-BR" smtClean="0"/>
              <a:t>31/01/2025</a:t>
            </a:fld>
            <a:endParaRPr lang="pt-BR"/>
          </a:p>
        </p:txBody>
      </p:sp>
      <p:sp>
        <p:nvSpPr>
          <p:cNvPr id="5" name="Espaço Reservado para Rodapé 4">
            <a:extLst>
              <a:ext uri="{FF2B5EF4-FFF2-40B4-BE49-F238E27FC236}">
                <a16:creationId xmlns:a16="http://schemas.microsoft.com/office/drawing/2014/main" id="{BBC154A6-158D-8F1F-AF4A-F5C89DDEC9E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7E4022CE-098D-A09D-A757-6CE779F4C4BA}"/>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318536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21E9C7-CB45-1853-CE29-7664FDF73C23}"/>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4BB60218-2D53-D910-5438-1F5B4A4634A9}"/>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B8FD2EB3-BFE6-E18A-BCC0-5946D386A511}"/>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FC38EF9A-30BF-DB97-4EEB-8F02816AF798}"/>
              </a:ext>
            </a:extLst>
          </p:cNvPr>
          <p:cNvSpPr>
            <a:spLocks noGrp="1"/>
          </p:cNvSpPr>
          <p:nvPr>
            <p:ph type="dt" sz="half" idx="10"/>
          </p:nvPr>
        </p:nvSpPr>
        <p:spPr/>
        <p:txBody>
          <a:bodyPr/>
          <a:lstStyle/>
          <a:p>
            <a:fld id="{FF9620AA-6E5F-4125-B41F-3E3AEED7F1AA}" type="datetimeFigureOut">
              <a:rPr lang="pt-BR" smtClean="0"/>
              <a:t>31/01/2025</a:t>
            </a:fld>
            <a:endParaRPr lang="pt-BR"/>
          </a:p>
        </p:txBody>
      </p:sp>
      <p:sp>
        <p:nvSpPr>
          <p:cNvPr id="6" name="Espaço Reservado para Rodapé 5">
            <a:extLst>
              <a:ext uri="{FF2B5EF4-FFF2-40B4-BE49-F238E27FC236}">
                <a16:creationId xmlns:a16="http://schemas.microsoft.com/office/drawing/2014/main" id="{915DC055-52D7-6596-43E3-EC486CA331DA}"/>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6BCA39D4-C4B9-D85C-024A-8E978B21D8C7}"/>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3767956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BF596C-5D65-BD9F-D6A2-37D30E876C75}"/>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94D6F4CA-6559-27A2-5E8F-6554EB7350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984D8990-0437-58F3-B10C-7A61DF3F9690}"/>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BBEED627-C972-F0E2-4A2B-48BCB27F36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40C407AF-D857-6100-8AC7-8FE7FFEF5B13}"/>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C3E92B7A-3242-D795-44C3-96611D54B4ED}"/>
              </a:ext>
            </a:extLst>
          </p:cNvPr>
          <p:cNvSpPr>
            <a:spLocks noGrp="1"/>
          </p:cNvSpPr>
          <p:nvPr>
            <p:ph type="dt" sz="half" idx="10"/>
          </p:nvPr>
        </p:nvSpPr>
        <p:spPr/>
        <p:txBody>
          <a:bodyPr/>
          <a:lstStyle/>
          <a:p>
            <a:fld id="{FF9620AA-6E5F-4125-B41F-3E3AEED7F1AA}" type="datetimeFigureOut">
              <a:rPr lang="pt-BR" smtClean="0"/>
              <a:t>31/01/2025</a:t>
            </a:fld>
            <a:endParaRPr lang="pt-BR"/>
          </a:p>
        </p:txBody>
      </p:sp>
      <p:sp>
        <p:nvSpPr>
          <p:cNvPr id="8" name="Espaço Reservado para Rodapé 7">
            <a:extLst>
              <a:ext uri="{FF2B5EF4-FFF2-40B4-BE49-F238E27FC236}">
                <a16:creationId xmlns:a16="http://schemas.microsoft.com/office/drawing/2014/main" id="{A119E54E-22E8-5790-98BE-619CC98342FB}"/>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F8F82D9A-9347-D87E-42E4-63C3D37C699F}"/>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33111824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3BBA8B-8ACB-27D4-B618-1244CCA7D802}"/>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49259340-78DA-5B8C-2DF0-152A8AF776C7}"/>
              </a:ext>
            </a:extLst>
          </p:cNvPr>
          <p:cNvSpPr>
            <a:spLocks noGrp="1"/>
          </p:cNvSpPr>
          <p:nvPr>
            <p:ph type="dt" sz="half" idx="10"/>
          </p:nvPr>
        </p:nvSpPr>
        <p:spPr/>
        <p:txBody>
          <a:bodyPr/>
          <a:lstStyle/>
          <a:p>
            <a:fld id="{FF9620AA-6E5F-4125-B41F-3E3AEED7F1AA}" type="datetimeFigureOut">
              <a:rPr lang="pt-BR" smtClean="0"/>
              <a:t>31/01/2025</a:t>
            </a:fld>
            <a:endParaRPr lang="pt-BR"/>
          </a:p>
        </p:txBody>
      </p:sp>
      <p:sp>
        <p:nvSpPr>
          <p:cNvPr id="4" name="Espaço Reservado para Rodapé 3">
            <a:extLst>
              <a:ext uri="{FF2B5EF4-FFF2-40B4-BE49-F238E27FC236}">
                <a16:creationId xmlns:a16="http://schemas.microsoft.com/office/drawing/2014/main" id="{EAB9173F-91F5-F203-4184-C28AD54E0824}"/>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F033BB08-C553-7883-2779-AAA921EF20CF}"/>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31432491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528C5704-E314-112F-AFCB-599B433032CB}"/>
              </a:ext>
            </a:extLst>
          </p:cNvPr>
          <p:cNvSpPr>
            <a:spLocks noGrp="1"/>
          </p:cNvSpPr>
          <p:nvPr>
            <p:ph type="dt" sz="half" idx="10"/>
          </p:nvPr>
        </p:nvSpPr>
        <p:spPr/>
        <p:txBody>
          <a:bodyPr/>
          <a:lstStyle/>
          <a:p>
            <a:fld id="{FF9620AA-6E5F-4125-B41F-3E3AEED7F1AA}" type="datetimeFigureOut">
              <a:rPr lang="pt-BR" smtClean="0"/>
              <a:t>31/01/2025</a:t>
            </a:fld>
            <a:endParaRPr lang="pt-BR"/>
          </a:p>
        </p:txBody>
      </p:sp>
      <p:sp>
        <p:nvSpPr>
          <p:cNvPr id="3" name="Espaço Reservado para Rodapé 2">
            <a:extLst>
              <a:ext uri="{FF2B5EF4-FFF2-40B4-BE49-F238E27FC236}">
                <a16:creationId xmlns:a16="http://schemas.microsoft.com/office/drawing/2014/main" id="{E90D5760-AAE4-DE15-A30D-35932BE43EB6}"/>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BD39C456-1CC5-054F-768C-BD120FFE79B7}"/>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2473958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8A94D0-9A60-9424-70C9-B31C7C9705CE}"/>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5C3E2C65-2653-FF85-327D-A6BD326FAD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90225E2D-A86D-0F74-0AAE-A6B78AD937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E6D7526E-58F6-F9E5-B862-29310F9A062E}"/>
              </a:ext>
            </a:extLst>
          </p:cNvPr>
          <p:cNvSpPr>
            <a:spLocks noGrp="1"/>
          </p:cNvSpPr>
          <p:nvPr>
            <p:ph type="dt" sz="half" idx="10"/>
          </p:nvPr>
        </p:nvSpPr>
        <p:spPr/>
        <p:txBody>
          <a:bodyPr/>
          <a:lstStyle/>
          <a:p>
            <a:fld id="{FF9620AA-6E5F-4125-B41F-3E3AEED7F1AA}" type="datetimeFigureOut">
              <a:rPr lang="pt-BR" smtClean="0"/>
              <a:t>31/01/2025</a:t>
            </a:fld>
            <a:endParaRPr lang="pt-BR"/>
          </a:p>
        </p:txBody>
      </p:sp>
      <p:sp>
        <p:nvSpPr>
          <p:cNvPr id="6" name="Espaço Reservado para Rodapé 5">
            <a:extLst>
              <a:ext uri="{FF2B5EF4-FFF2-40B4-BE49-F238E27FC236}">
                <a16:creationId xmlns:a16="http://schemas.microsoft.com/office/drawing/2014/main" id="{45F06302-70A4-4FC1-A621-FD94B394E135}"/>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6F2FAB4A-3BC6-95CB-BC15-EBEAAC4340D6}"/>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425776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8510FB-8D8E-BAFA-9FB7-0F492E2978DC}"/>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97F63C6A-C658-7E67-3447-A697AA9555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9A8779E3-7D20-7E6E-8F78-525889158C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20EEEDC1-88AF-896B-C719-1CA220A0933C}"/>
              </a:ext>
            </a:extLst>
          </p:cNvPr>
          <p:cNvSpPr>
            <a:spLocks noGrp="1"/>
          </p:cNvSpPr>
          <p:nvPr>
            <p:ph type="dt" sz="half" idx="10"/>
          </p:nvPr>
        </p:nvSpPr>
        <p:spPr/>
        <p:txBody>
          <a:bodyPr/>
          <a:lstStyle/>
          <a:p>
            <a:fld id="{FF9620AA-6E5F-4125-B41F-3E3AEED7F1AA}" type="datetimeFigureOut">
              <a:rPr lang="pt-BR" smtClean="0"/>
              <a:t>31/01/2025</a:t>
            </a:fld>
            <a:endParaRPr lang="pt-BR"/>
          </a:p>
        </p:txBody>
      </p:sp>
      <p:sp>
        <p:nvSpPr>
          <p:cNvPr id="6" name="Espaço Reservado para Rodapé 5">
            <a:extLst>
              <a:ext uri="{FF2B5EF4-FFF2-40B4-BE49-F238E27FC236}">
                <a16:creationId xmlns:a16="http://schemas.microsoft.com/office/drawing/2014/main" id="{4FEEC758-7947-0F58-F332-1A635B8AFBD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DE2338A1-A01B-EA7B-E2F0-97647DEEB26A}"/>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1311524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EC9DF1-4B0B-D254-67C2-12EE363BFA00}"/>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35B0764F-B933-ECD0-703D-4966E09FEFAA}"/>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66FF4677-FEFD-EB9B-8000-E9F87DC0AF1F}"/>
              </a:ext>
            </a:extLst>
          </p:cNvPr>
          <p:cNvSpPr>
            <a:spLocks noGrp="1"/>
          </p:cNvSpPr>
          <p:nvPr>
            <p:ph type="dt" sz="half" idx="10"/>
          </p:nvPr>
        </p:nvSpPr>
        <p:spPr/>
        <p:txBody>
          <a:bodyPr/>
          <a:lstStyle/>
          <a:p>
            <a:fld id="{FF9620AA-6E5F-4125-B41F-3E3AEED7F1AA}" type="datetimeFigureOut">
              <a:rPr lang="pt-BR" smtClean="0"/>
              <a:t>31/01/2025</a:t>
            </a:fld>
            <a:endParaRPr lang="pt-BR"/>
          </a:p>
        </p:txBody>
      </p:sp>
      <p:sp>
        <p:nvSpPr>
          <p:cNvPr id="5" name="Espaço Reservado para Rodapé 4">
            <a:extLst>
              <a:ext uri="{FF2B5EF4-FFF2-40B4-BE49-F238E27FC236}">
                <a16:creationId xmlns:a16="http://schemas.microsoft.com/office/drawing/2014/main" id="{96C4EF02-3C5F-F29C-35AC-3750AF214C2E}"/>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E764A907-2D89-05C9-6C5E-A43C5E4D24A6}"/>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3786413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4949481F-0423-F04F-7F62-A2E58041E468}"/>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093328F0-8B3E-35F1-4A04-FFFF32BD038E}"/>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2551F63-0600-D1B2-5684-4059AC92CD80}"/>
              </a:ext>
            </a:extLst>
          </p:cNvPr>
          <p:cNvSpPr>
            <a:spLocks noGrp="1"/>
          </p:cNvSpPr>
          <p:nvPr>
            <p:ph type="dt" sz="half" idx="10"/>
          </p:nvPr>
        </p:nvSpPr>
        <p:spPr/>
        <p:txBody>
          <a:bodyPr/>
          <a:lstStyle/>
          <a:p>
            <a:fld id="{FF9620AA-6E5F-4125-B41F-3E3AEED7F1AA}" type="datetimeFigureOut">
              <a:rPr lang="pt-BR" smtClean="0"/>
              <a:t>31/01/2025</a:t>
            </a:fld>
            <a:endParaRPr lang="pt-BR"/>
          </a:p>
        </p:txBody>
      </p:sp>
      <p:sp>
        <p:nvSpPr>
          <p:cNvPr id="5" name="Espaço Reservado para Rodapé 4">
            <a:extLst>
              <a:ext uri="{FF2B5EF4-FFF2-40B4-BE49-F238E27FC236}">
                <a16:creationId xmlns:a16="http://schemas.microsoft.com/office/drawing/2014/main" id="{AA13E758-04C0-A7BA-8BC9-BEBCAB024BF5}"/>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2DFCA654-213B-B2EA-F2AA-8EB73D3A0501}"/>
              </a:ext>
            </a:extLst>
          </p:cNvPr>
          <p:cNvSpPr>
            <a:spLocks noGrp="1"/>
          </p:cNvSpPr>
          <p:nvPr>
            <p:ph type="sldNum" sz="quarter" idx="12"/>
          </p:nvPr>
        </p:nvSpPr>
        <p:spPr/>
        <p:txBody>
          <a:bodyPr/>
          <a:lstStyle/>
          <a:p>
            <a:fld id="{6B8E552C-E211-4F70-8BC2-7B71CEC424F2}" type="slidenum">
              <a:rPr lang="pt-BR" smtClean="0"/>
              <a:t>‹nº›</a:t>
            </a:fld>
            <a:endParaRPr lang="pt-BR"/>
          </a:p>
        </p:txBody>
      </p:sp>
    </p:spTree>
    <p:extLst>
      <p:ext uri="{BB962C8B-B14F-4D97-AF65-F5344CB8AC3E}">
        <p14:creationId xmlns:p14="http://schemas.microsoft.com/office/powerpoint/2010/main" val="4005942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5017B0B6-059F-8AB0-C276-9A1074FF0C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727411C1-D900-4A5F-49E0-8CC8F784AA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C81C08CC-B542-AC6B-B298-3B50669110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9620AA-6E5F-4125-B41F-3E3AEED7F1AA}" type="datetimeFigureOut">
              <a:rPr lang="pt-BR" smtClean="0"/>
              <a:t>31/01/2025</a:t>
            </a:fld>
            <a:endParaRPr lang="pt-BR"/>
          </a:p>
        </p:txBody>
      </p:sp>
      <p:sp>
        <p:nvSpPr>
          <p:cNvPr id="5" name="Espaço Reservado para Rodapé 4">
            <a:extLst>
              <a:ext uri="{FF2B5EF4-FFF2-40B4-BE49-F238E27FC236}">
                <a16:creationId xmlns:a16="http://schemas.microsoft.com/office/drawing/2014/main" id="{6A4772E5-ABB7-16D4-8F77-FC216250D3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24AE2E56-00F2-9BFD-5310-55B69FAF77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8E552C-E211-4F70-8BC2-7B71CEC424F2}" type="slidenum">
              <a:rPr lang="pt-BR" smtClean="0"/>
              <a:t>‹nº›</a:t>
            </a:fld>
            <a:endParaRPr lang="pt-BR"/>
          </a:p>
        </p:txBody>
      </p:sp>
    </p:spTree>
    <p:extLst>
      <p:ext uri="{BB962C8B-B14F-4D97-AF65-F5344CB8AC3E}">
        <p14:creationId xmlns:p14="http://schemas.microsoft.com/office/powerpoint/2010/main" val="42839976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C77820-038B-7C7E-8881-F05018D26ABD}"/>
              </a:ext>
            </a:extLst>
          </p:cNvPr>
          <p:cNvSpPr>
            <a:spLocks noGrp="1"/>
          </p:cNvSpPr>
          <p:nvPr>
            <p:ph type="title"/>
          </p:nvPr>
        </p:nvSpPr>
        <p:spPr>
          <a:xfrm>
            <a:off x="267285" y="618349"/>
            <a:ext cx="11465169" cy="1325563"/>
          </a:xfrm>
        </p:spPr>
        <p:txBody>
          <a:bodyPr>
            <a:normAutofit/>
          </a:bodyPr>
          <a:lstStyle/>
          <a:p>
            <a:pPr algn="ctr"/>
            <a:r>
              <a:rPr lang="pt-BR" b="1">
                <a:latin typeface="Arial" panose="020B0604020202020204" pitchFamily="34" charset="0"/>
                <a:cs typeface="Arial" panose="020B0604020202020204" pitchFamily="34" charset="0"/>
              </a:rPr>
              <a:t>Aula 7 </a:t>
            </a:r>
            <a:r>
              <a:rPr lang="pt-BR" b="1" dirty="0">
                <a:latin typeface="Arial" panose="020B0604020202020204" pitchFamily="34" charset="0"/>
                <a:cs typeface="Arial" panose="020B0604020202020204" pitchFamily="34" charset="0"/>
              </a:rPr>
              <a:t>– Levantamento de Requisitos</a:t>
            </a:r>
          </a:p>
        </p:txBody>
      </p:sp>
      <p:sp>
        <p:nvSpPr>
          <p:cNvPr id="3" name="Espaço Reservado para Conteúdo 2">
            <a:extLst>
              <a:ext uri="{FF2B5EF4-FFF2-40B4-BE49-F238E27FC236}">
                <a16:creationId xmlns:a16="http://schemas.microsoft.com/office/drawing/2014/main" id="{A4A57165-1F9E-2CCC-7F43-077B3C1E8CF9}"/>
              </a:ext>
            </a:extLst>
          </p:cNvPr>
          <p:cNvSpPr>
            <a:spLocks noGrp="1"/>
          </p:cNvSpPr>
          <p:nvPr>
            <p:ph idx="1"/>
          </p:nvPr>
        </p:nvSpPr>
        <p:spPr>
          <a:xfrm>
            <a:off x="379829" y="2135115"/>
            <a:ext cx="11353800" cy="4351338"/>
          </a:xfrm>
        </p:spPr>
        <p:txBody>
          <a:bodyPr>
            <a:normAutofit/>
          </a:bodyPr>
          <a:lstStyle/>
          <a:p>
            <a:pPr marL="0" indent="0" algn="just">
              <a:lnSpc>
                <a:spcPct val="150000"/>
              </a:lnSpc>
              <a:buNone/>
            </a:pPr>
            <a:r>
              <a:rPr lang="pt-BR" dirty="0"/>
              <a:t>	</a:t>
            </a:r>
            <a:r>
              <a:rPr lang="pt-BR" b="0" i="0" dirty="0">
                <a:effectLst/>
                <a:latin typeface="Roboto" panose="02000000000000000000" pitchFamily="2" charset="0"/>
              </a:rPr>
              <a:t>O desenvolvimento de sistemas não deve ser feito partindo do nada. É fundamental que o sistema seja projetado para atender às necessidades do cliente. Para ajudar com a coleta das prioridades do usuário deve-se providenciar um levantamento de requisitos de software.</a:t>
            </a:r>
            <a:endParaRPr lang="pt-BR" dirty="0"/>
          </a:p>
        </p:txBody>
      </p:sp>
    </p:spTree>
    <p:extLst>
      <p:ext uri="{BB962C8B-B14F-4D97-AF65-F5344CB8AC3E}">
        <p14:creationId xmlns:p14="http://schemas.microsoft.com/office/powerpoint/2010/main" val="3844074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85645-A986-AA09-A95D-A50E2601FCD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5EC16DE-517A-2828-02D0-D17E90776A94}"/>
              </a:ext>
            </a:extLst>
          </p:cNvPr>
          <p:cNvSpPr>
            <a:spLocks noGrp="1"/>
          </p:cNvSpPr>
          <p:nvPr>
            <p:ph type="title"/>
          </p:nvPr>
        </p:nvSpPr>
        <p:spPr>
          <a:xfrm>
            <a:off x="267285" y="618349"/>
            <a:ext cx="11465169" cy="1325563"/>
          </a:xfrm>
        </p:spPr>
        <p:txBody>
          <a:bodyPr>
            <a:normAutofit/>
          </a:bodyPr>
          <a:lstStyle/>
          <a:p>
            <a:pPr algn="ctr"/>
            <a:r>
              <a:rPr lang="pt-BR" b="1" dirty="0">
                <a:latin typeface="Arial" panose="020B0604020202020204" pitchFamily="34" charset="0"/>
                <a:cs typeface="Arial" panose="020B0604020202020204" pitchFamily="34" charset="0"/>
              </a:rPr>
              <a:t>O que é o levantamento de requisitos</a:t>
            </a:r>
          </a:p>
        </p:txBody>
      </p:sp>
      <p:sp>
        <p:nvSpPr>
          <p:cNvPr id="3" name="Espaço Reservado para Conteúdo 2">
            <a:extLst>
              <a:ext uri="{FF2B5EF4-FFF2-40B4-BE49-F238E27FC236}">
                <a16:creationId xmlns:a16="http://schemas.microsoft.com/office/drawing/2014/main" id="{C078D547-FF3C-1F43-5E3A-91BE714423E5}"/>
              </a:ext>
            </a:extLst>
          </p:cNvPr>
          <p:cNvSpPr>
            <a:spLocks noGrp="1"/>
          </p:cNvSpPr>
          <p:nvPr>
            <p:ph idx="1"/>
          </p:nvPr>
        </p:nvSpPr>
        <p:spPr>
          <a:xfrm>
            <a:off x="379829" y="1943912"/>
            <a:ext cx="11353800" cy="4710105"/>
          </a:xfrm>
        </p:spPr>
        <p:txBody>
          <a:bodyPr>
            <a:normAutofit fontScale="40000" lnSpcReduction="20000"/>
          </a:bodyPr>
          <a:lstStyle/>
          <a:p>
            <a:pPr marL="0" indent="0" algn="just">
              <a:lnSpc>
                <a:spcPct val="170000"/>
              </a:lnSpc>
              <a:spcBef>
                <a:spcPts val="0"/>
              </a:spcBef>
              <a:spcAft>
                <a:spcPts val="1125"/>
              </a:spcAft>
              <a:buNone/>
            </a:pPr>
            <a:r>
              <a:rPr lang="pt-BR" dirty="0"/>
              <a:t>	</a:t>
            </a:r>
            <a:r>
              <a:rPr lang="pt-BR" sz="4000" dirty="0"/>
              <a:t>O levantamento de requisitos de </a:t>
            </a:r>
            <a:r>
              <a:rPr lang="pt-BR" sz="4000" i="1" dirty="0"/>
              <a:t>software</a:t>
            </a:r>
            <a:r>
              <a:rPr lang="pt-BR" sz="4000" dirty="0"/>
              <a:t> é um processo que serve para capturar as necessidades do cliente antes de projetar o desenvolvimento. Assim, os problemas solucionados pelo sistema serão problemas reais, não apenas imaginados pela equipe de desenvolvimento. Para entender o que será levantado é importante saber o que são requisitos de software. Podemos categorizar os requisitos em três tipos:</a:t>
            </a:r>
          </a:p>
          <a:p>
            <a:pPr algn="just">
              <a:lnSpc>
                <a:spcPct val="170000"/>
              </a:lnSpc>
              <a:spcBef>
                <a:spcPts val="0"/>
              </a:spcBef>
              <a:spcAft>
                <a:spcPts val="750"/>
              </a:spcAft>
            </a:pPr>
            <a:r>
              <a:rPr lang="pt-BR" sz="4000" dirty="0"/>
              <a:t>Capacidades operacionais que o usuário precisa para resolver problemas ou fazer atividades específicas;</a:t>
            </a:r>
          </a:p>
          <a:p>
            <a:pPr algn="just">
              <a:lnSpc>
                <a:spcPct val="170000"/>
              </a:lnSpc>
              <a:spcBef>
                <a:spcPts val="0"/>
              </a:spcBef>
              <a:spcAft>
                <a:spcPts val="750"/>
              </a:spcAft>
            </a:pPr>
            <a:r>
              <a:rPr lang="pt-BR" sz="4000" dirty="0"/>
              <a:t>Capacidades operacionais necessárias para que um sistema consiga satisfazer um contrato, padrão ou exigência formal (um exemplo é a emissão de documentos fiscais eletrônicos);</a:t>
            </a:r>
          </a:p>
          <a:p>
            <a:pPr algn="just">
              <a:lnSpc>
                <a:spcPct val="170000"/>
              </a:lnSpc>
              <a:spcBef>
                <a:spcPts val="0"/>
              </a:spcBef>
              <a:spcAft>
                <a:spcPts val="750"/>
              </a:spcAft>
            </a:pPr>
            <a:r>
              <a:rPr lang="pt-BR" sz="4000" dirty="0"/>
              <a:t>Os requisitos que serão a base para desenvolver o sistema ou seus componentes no futuro.</a:t>
            </a:r>
          </a:p>
          <a:p>
            <a:pPr marL="0" indent="0" algn="just">
              <a:lnSpc>
                <a:spcPct val="170000"/>
              </a:lnSpc>
              <a:spcBef>
                <a:spcPts val="0"/>
              </a:spcBef>
              <a:spcAft>
                <a:spcPts val="1125"/>
              </a:spcAft>
              <a:buNone/>
            </a:pPr>
            <a:r>
              <a:rPr lang="pt-BR" sz="4000" dirty="0"/>
              <a:t>	Em suma, para fazer o levantamento de requisitos de </a:t>
            </a:r>
            <a:r>
              <a:rPr lang="pt-BR" sz="4000" i="1" dirty="0"/>
              <a:t>software. O que</a:t>
            </a:r>
            <a:r>
              <a:rPr lang="pt-BR" sz="4000" dirty="0"/>
              <a:t> a empresa faz é identificar as necessidades dos clientes, levando em consideração o que é necessário para a gestão empresarial. O </a:t>
            </a:r>
            <a:r>
              <a:rPr lang="pt-BR" sz="4000" i="1" dirty="0"/>
              <a:t>software</a:t>
            </a:r>
            <a:r>
              <a:rPr lang="pt-BR" sz="4000" dirty="0"/>
              <a:t> deve ser uma solução que atenda às expectativas e necessidades técnicas da empresa.</a:t>
            </a:r>
          </a:p>
        </p:txBody>
      </p:sp>
    </p:spTree>
    <p:extLst>
      <p:ext uri="{BB962C8B-B14F-4D97-AF65-F5344CB8AC3E}">
        <p14:creationId xmlns:p14="http://schemas.microsoft.com/office/powerpoint/2010/main" val="3877904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3DB1B-93BF-23BD-CD0B-9C52C3C27C4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A7A04F0-7A72-2A96-6A7E-66D4B46BD768}"/>
              </a:ext>
            </a:extLst>
          </p:cNvPr>
          <p:cNvSpPr>
            <a:spLocks noGrp="1"/>
          </p:cNvSpPr>
          <p:nvPr>
            <p:ph type="title"/>
          </p:nvPr>
        </p:nvSpPr>
        <p:spPr>
          <a:xfrm>
            <a:off x="267285" y="618349"/>
            <a:ext cx="11465169" cy="1325563"/>
          </a:xfrm>
        </p:spPr>
        <p:txBody>
          <a:bodyPr>
            <a:normAutofit/>
          </a:bodyPr>
          <a:lstStyle/>
          <a:p>
            <a:pPr algn="ctr"/>
            <a:r>
              <a:rPr lang="pt-BR" b="1" dirty="0">
                <a:latin typeface="Arial" panose="020B0604020202020204" pitchFamily="34" charset="0"/>
                <a:cs typeface="Arial" panose="020B0604020202020204" pitchFamily="34" charset="0"/>
              </a:rPr>
              <a:t>Requisitos funcionais</a:t>
            </a:r>
          </a:p>
        </p:txBody>
      </p:sp>
      <p:sp>
        <p:nvSpPr>
          <p:cNvPr id="3" name="Espaço Reservado para Conteúdo 2">
            <a:extLst>
              <a:ext uri="{FF2B5EF4-FFF2-40B4-BE49-F238E27FC236}">
                <a16:creationId xmlns:a16="http://schemas.microsoft.com/office/drawing/2014/main" id="{F4A31290-4406-6395-BD86-5A8A47FFEF39}"/>
              </a:ext>
            </a:extLst>
          </p:cNvPr>
          <p:cNvSpPr>
            <a:spLocks noGrp="1"/>
          </p:cNvSpPr>
          <p:nvPr>
            <p:ph idx="1"/>
          </p:nvPr>
        </p:nvSpPr>
        <p:spPr>
          <a:xfrm>
            <a:off x="379829" y="1943912"/>
            <a:ext cx="11353800" cy="4710105"/>
          </a:xfrm>
        </p:spPr>
        <p:txBody>
          <a:bodyPr>
            <a:normAutofit fontScale="62500" lnSpcReduction="20000"/>
          </a:bodyPr>
          <a:lstStyle/>
          <a:p>
            <a:pPr marL="0" indent="0" algn="just" fontAlgn="base">
              <a:lnSpc>
                <a:spcPct val="160000"/>
              </a:lnSpc>
              <a:buNone/>
            </a:pPr>
            <a:r>
              <a:rPr lang="pt-BR" dirty="0"/>
              <a:t>	Os requisitos funcionais são todos os problemas e necessidades que devem ser atendidos e resolvidos pelo software por meio de funções ou serviços. São exemplos de requisitos funcionais:</a:t>
            </a:r>
          </a:p>
          <a:p>
            <a:pPr algn="just" fontAlgn="base">
              <a:lnSpc>
                <a:spcPct val="160000"/>
              </a:lnSpc>
              <a:buFont typeface="Arial" panose="020B0604020202020204" pitchFamily="34" charset="0"/>
              <a:buChar char="•"/>
            </a:pPr>
            <a:r>
              <a:rPr lang="pt-BR" dirty="0"/>
              <a:t>Inserir dados em um formulário;</a:t>
            </a:r>
          </a:p>
          <a:p>
            <a:pPr algn="just" fontAlgn="base">
              <a:lnSpc>
                <a:spcPct val="160000"/>
              </a:lnSpc>
              <a:buFont typeface="Arial" panose="020B0604020202020204" pitchFamily="34" charset="0"/>
              <a:buChar char="•"/>
            </a:pPr>
            <a:r>
              <a:rPr lang="pt-BR" dirty="0"/>
              <a:t>Buscar pratos específicos em um cardápio;</a:t>
            </a:r>
          </a:p>
          <a:p>
            <a:pPr algn="just" fontAlgn="base">
              <a:lnSpc>
                <a:spcPct val="160000"/>
              </a:lnSpc>
              <a:buFont typeface="Arial" panose="020B0604020202020204" pitchFamily="34" charset="0"/>
              <a:buChar char="•"/>
            </a:pPr>
            <a:r>
              <a:rPr lang="pt-BR" dirty="0"/>
              <a:t>Consultar o status de um pedido;</a:t>
            </a:r>
          </a:p>
          <a:p>
            <a:pPr algn="just" fontAlgn="base">
              <a:lnSpc>
                <a:spcPct val="160000"/>
              </a:lnSpc>
              <a:buFont typeface="Arial" panose="020B0604020202020204" pitchFamily="34" charset="0"/>
              <a:buChar char="•"/>
            </a:pPr>
            <a:r>
              <a:rPr lang="pt-BR" dirty="0"/>
              <a:t>Realizar compras;</a:t>
            </a:r>
          </a:p>
          <a:p>
            <a:pPr algn="just" fontAlgn="base">
              <a:lnSpc>
                <a:spcPct val="160000"/>
              </a:lnSpc>
              <a:buFont typeface="Arial" panose="020B0604020202020204" pitchFamily="34" charset="0"/>
              <a:buChar char="•"/>
            </a:pPr>
            <a:r>
              <a:rPr lang="pt-BR" dirty="0"/>
              <a:t>Comunicar-se com um atendente;</a:t>
            </a:r>
          </a:p>
          <a:p>
            <a:pPr algn="just" fontAlgn="base">
              <a:lnSpc>
                <a:spcPct val="160000"/>
              </a:lnSpc>
              <a:buFont typeface="Arial" panose="020B0604020202020204" pitchFamily="34" charset="0"/>
              <a:buChar char="•"/>
            </a:pPr>
            <a:r>
              <a:rPr lang="pt-BR" dirty="0"/>
              <a:t>Alterar informações de um registro;</a:t>
            </a:r>
          </a:p>
          <a:p>
            <a:pPr algn="just" fontAlgn="base">
              <a:lnSpc>
                <a:spcPct val="160000"/>
              </a:lnSpc>
              <a:buFont typeface="Arial" panose="020B0604020202020204" pitchFamily="34" charset="0"/>
              <a:buChar char="•"/>
            </a:pPr>
            <a:r>
              <a:rPr lang="pt-BR" dirty="0"/>
              <a:t>Elaborar relatórios.</a:t>
            </a:r>
            <a:endParaRPr lang="pt-BR" sz="4000" dirty="0"/>
          </a:p>
        </p:txBody>
      </p:sp>
    </p:spTree>
    <p:extLst>
      <p:ext uri="{BB962C8B-B14F-4D97-AF65-F5344CB8AC3E}">
        <p14:creationId xmlns:p14="http://schemas.microsoft.com/office/powerpoint/2010/main" val="4233888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AC4A8-D228-B4C9-0845-F58FC055582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E86DF5E-DF93-85AA-EC58-9DAC6AE9FE8F}"/>
              </a:ext>
            </a:extLst>
          </p:cNvPr>
          <p:cNvSpPr>
            <a:spLocks noGrp="1"/>
          </p:cNvSpPr>
          <p:nvPr>
            <p:ph type="title"/>
          </p:nvPr>
        </p:nvSpPr>
        <p:spPr>
          <a:xfrm>
            <a:off x="267285" y="618349"/>
            <a:ext cx="11465169" cy="1325563"/>
          </a:xfrm>
        </p:spPr>
        <p:txBody>
          <a:bodyPr>
            <a:normAutofit/>
          </a:bodyPr>
          <a:lstStyle/>
          <a:p>
            <a:pPr algn="ctr"/>
            <a:r>
              <a:rPr lang="pt-BR" b="1" dirty="0">
                <a:latin typeface="Arial" panose="020B0604020202020204" pitchFamily="34" charset="0"/>
                <a:cs typeface="Arial" panose="020B0604020202020204" pitchFamily="34" charset="0"/>
              </a:rPr>
              <a:t>Requisitos não funcionais</a:t>
            </a:r>
          </a:p>
        </p:txBody>
      </p:sp>
      <p:sp>
        <p:nvSpPr>
          <p:cNvPr id="3" name="Espaço Reservado para Conteúdo 2">
            <a:extLst>
              <a:ext uri="{FF2B5EF4-FFF2-40B4-BE49-F238E27FC236}">
                <a16:creationId xmlns:a16="http://schemas.microsoft.com/office/drawing/2014/main" id="{4B4F348D-2AD2-42C7-8EAC-E67554E0E0AA}"/>
              </a:ext>
            </a:extLst>
          </p:cNvPr>
          <p:cNvSpPr>
            <a:spLocks noGrp="1"/>
          </p:cNvSpPr>
          <p:nvPr>
            <p:ph idx="1"/>
          </p:nvPr>
        </p:nvSpPr>
        <p:spPr>
          <a:xfrm>
            <a:off x="379829" y="1519312"/>
            <a:ext cx="11353800" cy="5176910"/>
          </a:xfrm>
        </p:spPr>
        <p:txBody>
          <a:bodyPr>
            <a:noAutofit/>
          </a:bodyPr>
          <a:lstStyle/>
          <a:p>
            <a:pPr marL="0" indent="0" algn="just" fontAlgn="base">
              <a:lnSpc>
                <a:spcPct val="170000"/>
              </a:lnSpc>
              <a:buNone/>
            </a:pPr>
            <a:r>
              <a:rPr lang="pt-BR" sz="1500" dirty="0"/>
              <a:t>	Os requisitos não funcionais são todos aqueles relacionados à forma como o software ou tornará realidade os que está sendo planejado. Ou seja, enquanto os requisitos funcionais estão focados no que será feito, os não funcionais descrevem como serão feitos. Assim, todos os pré-requisitos do sistema, de </a:t>
            </a:r>
            <a:r>
              <a:rPr lang="pt-BR" sz="1500" i="1" dirty="0"/>
              <a:t>hardware</a:t>
            </a:r>
            <a:r>
              <a:rPr lang="pt-BR" sz="1500" dirty="0"/>
              <a:t>, de </a:t>
            </a:r>
            <a:r>
              <a:rPr lang="pt-BR" sz="1500" i="1" dirty="0"/>
              <a:t>software</a:t>
            </a:r>
            <a:r>
              <a:rPr lang="pt-BR" sz="1500" dirty="0"/>
              <a:t> e operacionais são documentados separadamente. Entre as características técnicas que podem ser definidas estão:</a:t>
            </a:r>
          </a:p>
          <a:p>
            <a:pPr algn="just" fontAlgn="base">
              <a:lnSpc>
                <a:spcPct val="170000"/>
              </a:lnSpc>
              <a:buFont typeface="Arial" panose="020B0604020202020204" pitchFamily="34" charset="0"/>
              <a:buChar char="•"/>
            </a:pPr>
            <a:r>
              <a:rPr lang="pt-BR" sz="1500" dirty="0"/>
              <a:t>Tipo de sistema operacional;</a:t>
            </a:r>
          </a:p>
          <a:p>
            <a:pPr algn="just" fontAlgn="base">
              <a:lnSpc>
                <a:spcPct val="170000"/>
              </a:lnSpc>
              <a:buFont typeface="Arial" panose="020B0604020202020204" pitchFamily="34" charset="0"/>
              <a:buChar char="•"/>
            </a:pPr>
            <a:r>
              <a:rPr lang="pt-BR" sz="1500" i="1" dirty="0"/>
              <a:t>Hardware</a:t>
            </a:r>
            <a:r>
              <a:rPr lang="pt-BR" sz="1500" dirty="0"/>
              <a:t> a ser utilizado;</a:t>
            </a:r>
          </a:p>
          <a:p>
            <a:pPr algn="just" fontAlgn="base">
              <a:lnSpc>
                <a:spcPct val="170000"/>
              </a:lnSpc>
              <a:buFont typeface="Arial" panose="020B0604020202020204" pitchFamily="34" charset="0"/>
              <a:buChar char="•"/>
            </a:pPr>
            <a:r>
              <a:rPr lang="pt-BR" sz="1500" dirty="0"/>
              <a:t>Processamento;</a:t>
            </a:r>
          </a:p>
          <a:p>
            <a:pPr algn="just" fontAlgn="base">
              <a:lnSpc>
                <a:spcPct val="170000"/>
              </a:lnSpc>
              <a:buFont typeface="Arial" panose="020B0604020202020204" pitchFamily="34" charset="0"/>
              <a:buChar char="•"/>
            </a:pPr>
            <a:r>
              <a:rPr lang="pt-BR" sz="1500" dirty="0"/>
              <a:t>Consumo de memória;</a:t>
            </a:r>
          </a:p>
          <a:p>
            <a:pPr algn="just" fontAlgn="base">
              <a:lnSpc>
                <a:spcPct val="170000"/>
              </a:lnSpc>
              <a:buFont typeface="Arial" panose="020B0604020202020204" pitchFamily="34" charset="0"/>
              <a:buChar char="•"/>
            </a:pPr>
            <a:r>
              <a:rPr lang="pt-BR" sz="1500" dirty="0"/>
              <a:t>Conexão;</a:t>
            </a:r>
          </a:p>
          <a:p>
            <a:pPr algn="just" fontAlgn="base">
              <a:lnSpc>
                <a:spcPct val="170000"/>
              </a:lnSpc>
              <a:buFont typeface="Arial" panose="020B0604020202020204" pitchFamily="34" charset="0"/>
              <a:buChar char="•"/>
            </a:pPr>
            <a:r>
              <a:rPr lang="pt-BR" sz="1500" dirty="0"/>
              <a:t>Banco de dados;</a:t>
            </a:r>
          </a:p>
          <a:p>
            <a:pPr algn="just" fontAlgn="base">
              <a:lnSpc>
                <a:spcPct val="170000"/>
              </a:lnSpc>
              <a:buFont typeface="Arial" panose="020B0604020202020204" pitchFamily="34" charset="0"/>
              <a:buChar char="•"/>
            </a:pPr>
            <a:r>
              <a:rPr lang="pt-BR" sz="1500" dirty="0"/>
              <a:t>Tipos de dispositivos em que o software pode ser usado.</a:t>
            </a:r>
          </a:p>
        </p:txBody>
      </p:sp>
    </p:spTree>
    <p:extLst>
      <p:ext uri="{BB962C8B-B14F-4D97-AF65-F5344CB8AC3E}">
        <p14:creationId xmlns:p14="http://schemas.microsoft.com/office/powerpoint/2010/main" val="1364924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6A75E-769B-960F-40C9-80741C52946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15034B5-95F5-55BA-59E5-A7EF2B2859DA}"/>
              </a:ext>
            </a:extLst>
          </p:cNvPr>
          <p:cNvSpPr>
            <a:spLocks noGrp="1"/>
          </p:cNvSpPr>
          <p:nvPr>
            <p:ph type="title"/>
          </p:nvPr>
        </p:nvSpPr>
        <p:spPr>
          <a:xfrm>
            <a:off x="267285" y="618349"/>
            <a:ext cx="11465169" cy="1325563"/>
          </a:xfrm>
        </p:spPr>
        <p:txBody>
          <a:bodyPr>
            <a:normAutofit/>
          </a:bodyPr>
          <a:lstStyle/>
          <a:p>
            <a:pPr algn="ctr"/>
            <a:r>
              <a:rPr lang="pt-BR" b="1" dirty="0">
                <a:latin typeface="Arial" panose="020B0604020202020204" pitchFamily="34" charset="0"/>
                <a:cs typeface="Arial" panose="020B0604020202020204" pitchFamily="34" charset="0"/>
              </a:rPr>
              <a:t>Processo de obtenção dos requisitos</a:t>
            </a:r>
          </a:p>
        </p:txBody>
      </p:sp>
      <p:sp>
        <p:nvSpPr>
          <p:cNvPr id="3" name="Espaço Reservado para Conteúdo 2">
            <a:extLst>
              <a:ext uri="{FF2B5EF4-FFF2-40B4-BE49-F238E27FC236}">
                <a16:creationId xmlns:a16="http://schemas.microsoft.com/office/drawing/2014/main" id="{A6AB8683-B44F-C5B0-5C7E-123A53246575}"/>
              </a:ext>
            </a:extLst>
          </p:cNvPr>
          <p:cNvSpPr>
            <a:spLocks noGrp="1"/>
          </p:cNvSpPr>
          <p:nvPr>
            <p:ph idx="1"/>
          </p:nvPr>
        </p:nvSpPr>
        <p:spPr>
          <a:xfrm>
            <a:off x="379829" y="1943912"/>
            <a:ext cx="11353800" cy="4710105"/>
          </a:xfrm>
        </p:spPr>
        <p:txBody>
          <a:bodyPr>
            <a:normAutofit fontScale="85000" lnSpcReduction="20000"/>
          </a:bodyPr>
          <a:lstStyle/>
          <a:p>
            <a:pPr marL="0" indent="0" algn="just">
              <a:lnSpc>
                <a:spcPct val="150000"/>
              </a:lnSpc>
              <a:spcAft>
                <a:spcPts val="1125"/>
              </a:spcAft>
              <a:buNone/>
            </a:pPr>
            <a:r>
              <a:rPr lang="pt-BR" dirty="0"/>
              <a:t>	Muitos desenvolvedores acreditam que o procedimento é complexo e trabalhoso demais para valer a pena. No entanto, para que seu produto seja considerado pelo cliente como algo de qualidade, deve ser útil para o que ele quer alcançar. Isso traz um grande diferencial para o sistema, que é feito de forma personalizada.</a:t>
            </a:r>
          </a:p>
          <a:p>
            <a:pPr marL="0" indent="0" algn="just">
              <a:lnSpc>
                <a:spcPct val="150000"/>
              </a:lnSpc>
              <a:spcAft>
                <a:spcPts val="1125"/>
              </a:spcAft>
              <a:buNone/>
            </a:pPr>
            <a:r>
              <a:rPr lang="pt-BR" dirty="0"/>
              <a:t>	De nada adianta desenvolver linhas de código elegantes e um sistema perfeito, se o usuário não consegue fazer as tarefas que precisa. Essa fase preparatória de levantamento de requisitos é o que define se o cliente entenderá que seu sistema tem qualidade. No final das contas é a opinião do cliente que importa, pois ele quem decide se o produto agrega ou não valor para sua empresa.</a:t>
            </a:r>
          </a:p>
        </p:txBody>
      </p:sp>
    </p:spTree>
    <p:extLst>
      <p:ext uri="{BB962C8B-B14F-4D97-AF65-F5344CB8AC3E}">
        <p14:creationId xmlns:p14="http://schemas.microsoft.com/office/powerpoint/2010/main" val="3482220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E1A94-6B72-9D71-C7BD-B957A2A3961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3F11AD4-9B25-D503-1CDA-DB48875E1E62}"/>
              </a:ext>
            </a:extLst>
          </p:cNvPr>
          <p:cNvSpPr>
            <a:spLocks noGrp="1"/>
          </p:cNvSpPr>
          <p:nvPr>
            <p:ph type="title"/>
          </p:nvPr>
        </p:nvSpPr>
        <p:spPr>
          <a:xfrm>
            <a:off x="267285" y="618349"/>
            <a:ext cx="11465169" cy="1325563"/>
          </a:xfrm>
        </p:spPr>
        <p:txBody>
          <a:bodyPr>
            <a:normAutofit/>
          </a:bodyPr>
          <a:lstStyle/>
          <a:p>
            <a:pPr algn="ctr"/>
            <a:r>
              <a:rPr lang="pt-BR" b="1" dirty="0">
                <a:latin typeface="Arial" panose="020B0604020202020204" pitchFamily="34" charset="0"/>
                <a:cs typeface="Arial" panose="020B0604020202020204" pitchFamily="34" charset="0"/>
              </a:rPr>
              <a:t>Técnica 1: Levantamento de acordo com os pontos de vista</a:t>
            </a:r>
          </a:p>
        </p:txBody>
      </p:sp>
      <p:sp>
        <p:nvSpPr>
          <p:cNvPr id="3" name="Espaço Reservado para Conteúdo 2">
            <a:extLst>
              <a:ext uri="{FF2B5EF4-FFF2-40B4-BE49-F238E27FC236}">
                <a16:creationId xmlns:a16="http://schemas.microsoft.com/office/drawing/2014/main" id="{17E88503-9270-8B85-9F12-4EB72EFDEA7A}"/>
              </a:ext>
            </a:extLst>
          </p:cNvPr>
          <p:cNvSpPr>
            <a:spLocks noGrp="1"/>
          </p:cNvSpPr>
          <p:nvPr>
            <p:ph idx="1"/>
          </p:nvPr>
        </p:nvSpPr>
        <p:spPr>
          <a:xfrm>
            <a:off x="379829" y="1943912"/>
            <a:ext cx="11353800" cy="4710105"/>
          </a:xfrm>
        </p:spPr>
        <p:txBody>
          <a:bodyPr>
            <a:normAutofit fontScale="70000" lnSpcReduction="20000"/>
          </a:bodyPr>
          <a:lstStyle/>
          <a:p>
            <a:pPr marL="0" indent="0" algn="just">
              <a:lnSpc>
                <a:spcPct val="160000"/>
              </a:lnSpc>
              <a:spcAft>
                <a:spcPts val="1125"/>
              </a:spcAft>
              <a:buNone/>
            </a:pPr>
            <a:r>
              <a:rPr lang="pt-BR" dirty="0"/>
              <a:t>	Ao fazer o levantamento de requisitos de software é importante lembrar que os usuários não são todos iguais. Alguns clientes terão interesses específicos, outros farão o uso da mesma ferramenta de modo completamente diferente e por isso deve-se levar em conta os diversos pontos de vista dos usuários.</a:t>
            </a:r>
          </a:p>
          <a:p>
            <a:pPr marL="0" indent="0" algn="just">
              <a:lnSpc>
                <a:spcPct val="160000"/>
              </a:lnSpc>
              <a:spcAft>
                <a:spcPts val="1125"/>
              </a:spcAft>
              <a:buNone/>
            </a:pPr>
            <a:r>
              <a:rPr lang="pt-BR" dirty="0"/>
              <a:t>	Nesse método, a primeira etapa consiste em identificar as diferentes perspectivas. Isso é feito ouvindo os próprios consumidores e analisando as informações fornecidas por eles.</a:t>
            </a:r>
          </a:p>
          <a:p>
            <a:pPr marL="0" indent="0" algn="just">
              <a:lnSpc>
                <a:spcPct val="160000"/>
              </a:lnSpc>
              <a:spcAft>
                <a:spcPts val="1125"/>
              </a:spcAft>
              <a:buNone/>
            </a:pPr>
            <a:r>
              <a:rPr lang="pt-BR" dirty="0"/>
              <a:t>	A informação obtida com os usuários deverá ser tratada para criar modelos de pontos de vista. Esses modelos são agrupados entre si, seguindo uma hierarquia que identifica, especialmente, o que todos os clientes de diversas opiniões têm em comum. Isso quer dizer que o que for comum a todos tem uma hierarquia mais alta, tendo mais prioridade no desenvolvimento.</a:t>
            </a:r>
          </a:p>
          <a:p>
            <a:pPr marL="0" indent="0" algn="just">
              <a:lnSpc>
                <a:spcPct val="160000"/>
              </a:lnSpc>
              <a:spcAft>
                <a:spcPts val="1125"/>
              </a:spcAft>
              <a:buNone/>
            </a:pPr>
            <a:endParaRPr lang="pt-BR" dirty="0"/>
          </a:p>
        </p:txBody>
      </p:sp>
    </p:spTree>
    <p:extLst>
      <p:ext uri="{BB962C8B-B14F-4D97-AF65-F5344CB8AC3E}">
        <p14:creationId xmlns:p14="http://schemas.microsoft.com/office/powerpoint/2010/main" val="1012710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0812F-6836-8CC1-95A6-94FA28D505B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BA70839-965F-F901-B37C-E8ABEAB6EAEB}"/>
              </a:ext>
            </a:extLst>
          </p:cNvPr>
          <p:cNvSpPr>
            <a:spLocks noGrp="1"/>
          </p:cNvSpPr>
          <p:nvPr>
            <p:ph type="title"/>
          </p:nvPr>
        </p:nvSpPr>
        <p:spPr>
          <a:xfrm>
            <a:off x="267285" y="618349"/>
            <a:ext cx="11465169" cy="1325563"/>
          </a:xfrm>
        </p:spPr>
        <p:txBody>
          <a:bodyPr>
            <a:normAutofit/>
          </a:bodyPr>
          <a:lstStyle/>
          <a:p>
            <a:pPr algn="ctr"/>
            <a:r>
              <a:rPr lang="pt-BR" b="1" dirty="0">
                <a:latin typeface="Arial" panose="020B0604020202020204" pitchFamily="34" charset="0"/>
                <a:cs typeface="Arial" panose="020B0604020202020204" pitchFamily="34" charset="0"/>
              </a:rPr>
              <a:t>Técnica 2: Pesquisa Utilizando Etnografia</a:t>
            </a:r>
          </a:p>
        </p:txBody>
      </p:sp>
      <p:sp>
        <p:nvSpPr>
          <p:cNvPr id="3" name="Espaço Reservado para Conteúdo 2">
            <a:extLst>
              <a:ext uri="{FF2B5EF4-FFF2-40B4-BE49-F238E27FC236}">
                <a16:creationId xmlns:a16="http://schemas.microsoft.com/office/drawing/2014/main" id="{BF4FBA3A-718F-7F1D-07F0-05A194E76118}"/>
              </a:ext>
            </a:extLst>
          </p:cNvPr>
          <p:cNvSpPr>
            <a:spLocks noGrp="1"/>
          </p:cNvSpPr>
          <p:nvPr>
            <p:ph idx="1"/>
          </p:nvPr>
        </p:nvSpPr>
        <p:spPr>
          <a:xfrm>
            <a:off x="379829" y="1943912"/>
            <a:ext cx="11353800" cy="4710105"/>
          </a:xfrm>
        </p:spPr>
        <p:txBody>
          <a:bodyPr>
            <a:normAutofit fontScale="92500" lnSpcReduction="20000"/>
          </a:bodyPr>
          <a:lstStyle/>
          <a:p>
            <a:pPr marL="0" indent="0" algn="just">
              <a:lnSpc>
                <a:spcPct val="150000"/>
              </a:lnSpc>
              <a:spcAft>
                <a:spcPts val="1125"/>
              </a:spcAft>
              <a:buNone/>
            </a:pPr>
            <a:r>
              <a:rPr lang="pt-BR" dirty="0"/>
              <a:t>	A etnografia é um método de pesquisa muito usado por antropólogos. Ela consiste em observar a interação das pessoas em um determinado contexto para entender como funciona a forma de trabalho da empresa, com o objetivo de familiarizar o sistema e sua história.</a:t>
            </a:r>
          </a:p>
          <a:p>
            <a:pPr marL="0" indent="0" algn="just">
              <a:lnSpc>
                <a:spcPct val="150000"/>
              </a:lnSpc>
              <a:spcAft>
                <a:spcPts val="1125"/>
              </a:spcAft>
              <a:buNone/>
            </a:pPr>
            <a:r>
              <a:rPr lang="pt-BR" dirty="0"/>
              <a:t>	A etnografia será aplicada de maneira eficaz para identificar dois tipos de requisitos muito interessantes: os recursos importantes para apoiar os usuários na forma como eles já trabalham e os requisitos úteis para a cooperação entre as pessoas da empresa, visando facilitar o trabalho em equipe.</a:t>
            </a:r>
          </a:p>
          <a:p>
            <a:pPr marL="0" indent="0" algn="just">
              <a:lnSpc>
                <a:spcPct val="150000"/>
              </a:lnSpc>
              <a:spcAft>
                <a:spcPts val="1125"/>
              </a:spcAft>
              <a:buNone/>
            </a:pPr>
            <a:endParaRPr lang="pt-BR" dirty="0"/>
          </a:p>
        </p:txBody>
      </p:sp>
    </p:spTree>
    <p:extLst>
      <p:ext uri="{BB962C8B-B14F-4D97-AF65-F5344CB8AC3E}">
        <p14:creationId xmlns:p14="http://schemas.microsoft.com/office/powerpoint/2010/main" val="17457190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15724-A881-E8F2-E5A7-2E4EC43B64D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FF70361-5831-C80F-98B9-D3B8AB429AD2}"/>
              </a:ext>
            </a:extLst>
          </p:cNvPr>
          <p:cNvSpPr>
            <a:spLocks noGrp="1"/>
          </p:cNvSpPr>
          <p:nvPr>
            <p:ph type="title"/>
          </p:nvPr>
        </p:nvSpPr>
        <p:spPr>
          <a:xfrm>
            <a:off x="267285" y="618349"/>
            <a:ext cx="11465169" cy="1325563"/>
          </a:xfrm>
        </p:spPr>
        <p:txBody>
          <a:bodyPr>
            <a:normAutofit/>
          </a:bodyPr>
          <a:lstStyle/>
          <a:p>
            <a:pPr algn="ctr"/>
            <a:r>
              <a:rPr lang="pt-BR" b="1" dirty="0">
                <a:latin typeface="Arial" panose="020B0604020202020204" pitchFamily="34" charset="0"/>
                <a:cs typeface="Arial" panose="020B0604020202020204" pitchFamily="34" charset="0"/>
              </a:rPr>
              <a:t>Técnica 3: Grupos de Trabalho</a:t>
            </a:r>
          </a:p>
        </p:txBody>
      </p:sp>
      <p:sp>
        <p:nvSpPr>
          <p:cNvPr id="3" name="Espaço Reservado para Conteúdo 2">
            <a:extLst>
              <a:ext uri="{FF2B5EF4-FFF2-40B4-BE49-F238E27FC236}">
                <a16:creationId xmlns:a16="http://schemas.microsoft.com/office/drawing/2014/main" id="{B299A4F2-A7BF-10CA-77A0-3729BDECCAE2}"/>
              </a:ext>
            </a:extLst>
          </p:cNvPr>
          <p:cNvSpPr>
            <a:spLocks noGrp="1"/>
          </p:cNvSpPr>
          <p:nvPr>
            <p:ph idx="1"/>
          </p:nvPr>
        </p:nvSpPr>
        <p:spPr>
          <a:xfrm>
            <a:off x="379829" y="1943912"/>
            <a:ext cx="11353800" cy="4710105"/>
          </a:xfrm>
        </p:spPr>
        <p:txBody>
          <a:bodyPr>
            <a:normAutofit fontScale="70000" lnSpcReduction="20000"/>
          </a:bodyPr>
          <a:lstStyle/>
          <a:p>
            <a:pPr marL="0" indent="0" algn="just">
              <a:lnSpc>
                <a:spcPct val="160000"/>
              </a:lnSpc>
              <a:spcAft>
                <a:spcPts val="1125"/>
              </a:spcAft>
              <a:buNone/>
            </a:pPr>
            <a:r>
              <a:rPr lang="pt-BR" dirty="0"/>
              <a:t>	O levantamento de requisitos de </a:t>
            </a:r>
            <a:r>
              <a:rPr lang="pt-BR" i="1" dirty="0"/>
              <a:t>software</a:t>
            </a:r>
            <a:r>
              <a:rPr lang="pt-BR" dirty="0"/>
              <a:t> baseado em grupos de trabalho, ou </a:t>
            </a:r>
            <a:r>
              <a:rPr lang="pt-BR" i="1" dirty="0"/>
              <a:t>workshops</a:t>
            </a:r>
            <a:r>
              <a:rPr lang="pt-BR" dirty="0"/>
              <a:t>, nada mais é que a coleta de dados em uma reunião promovida para a discussão estruturada. Nos grupos, a empresa trará usuários para que indiquem suas necessidades, conversem entre si e identifiquem, a partir de uma série de provocações feitas pela analista de sistemas, quais são suas expectativas e necessidades em um sistema de gestão.</a:t>
            </a:r>
          </a:p>
          <a:p>
            <a:pPr marL="0" indent="0" algn="just">
              <a:lnSpc>
                <a:spcPct val="160000"/>
              </a:lnSpc>
              <a:spcAft>
                <a:spcPts val="1125"/>
              </a:spcAft>
              <a:buNone/>
            </a:pPr>
            <a:r>
              <a:rPr lang="pt-BR" dirty="0"/>
              <a:t>	O sucesso de um grupo de trabalho depende do planejamento da estrutura da reunião, da escolha de bons participantes e também de quem conduzirá o encontro. Os dados colhidos nos grupos servem a diversas finalidades durante o desenvolvimento e até mesmo para o </a:t>
            </a:r>
            <a:r>
              <a:rPr lang="pt-BR" i="1" dirty="0"/>
              <a:t>marketing</a:t>
            </a:r>
            <a:r>
              <a:rPr lang="pt-BR" dirty="0"/>
              <a:t> do produto ao final, mas o foco principal deve ser levantar os requisitos.</a:t>
            </a:r>
          </a:p>
          <a:p>
            <a:pPr marL="0" indent="0" algn="just">
              <a:lnSpc>
                <a:spcPct val="160000"/>
              </a:lnSpc>
              <a:spcAft>
                <a:spcPts val="1125"/>
              </a:spcAft>
              <a:buNone/>
            </a:pPr>
            <a:endParaRPr lang="pt-BR" dirty="0"/>
          </a:p>
        </p:txBody>
      </p:sp>
    </p:spTree>
    <p:extLst>
      <p:ext uri="{BB962C8B-B14F-4D97-AF65-F5344CB8AC3E}">
        <p14:creationId xmlns:p14="http://schemas.microsoft.com/office/powerpoint/2010/main" val="2194923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5901A-A799-AE65-84CD-CD3A518EB37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D449929-264C-74C2-0342-D9109343C4E1}"/>
              </a:ext>
            </a:extLst>
          </p:cNvPr>
          <p:cNvSpPr>
            <a:spLocks noGrp="1"/>
          </p:cNvSpPr>
          <p:nvPr>
            <p:ph type="title"/>
          </p:nvPr>
        </p:nvSpPr>
        <p:spPr>
          <a:xfrm>
            <a:off x="281357" y="618349"/>
            <a:ext cx="11591777" cy="1325563"/>
          </a:xfrm>
        </p:spPr>
        <p:txBody>
          <a:bodyPr>
            <a:normAutofit/>
          </a:bodyPr>
          <a:lstStyle/>
          <a:p>
            <a:pPr algn="ctr"/>
            <a:r>
              <a:rPr lang="pt-BR" b="1" dirty="0">
                <a:latin typeface="Arial" panose="020B0604020202020204" pitchFamily="34" charset="0"/>
                <a:cs typeface="Arial" panose="020B0604020202020204" pitchFamily="34" charset="0"/>
              </a:rPr>
              <a:t>Técnica 4: Versões de Teste (prototipação)</a:t>
            </a:r>
          </a:p>
        </p:txBody>
      </p:sp>
      <p:sp>
        <p:nvSpPr>
          <p:cNvPr id="3" name="Espaço Reservado para Conteúdo 2">
            <a:extLst>
              <a:ext uri="{FF2B5EF4-FFF2-40B4-BE49-F238E27FC236}">
                <a16:creationId xmlns:a16="http://schemas.microsoft.com/office/drawing/2014/main" id="{7414C76C-5349-F461-6F33-0B9DD44C8099}"/>
              </a:ext>
            </a:extLst>
          </p:cNvPr>
          <p:cNvSpPr>
            <a:spLocks noGrp="1"/>
          </p:cNvSpPr>
          <p:nvPr>
            <p:ph idx="1"/>
          </p:nvPr>
        </p:nvSpPr>
        <p:spPr>
          <a:xfrm>
            <a:off x="379829" y="1943912"/>
            <a:ext cx="11353800" cy="4710105"/>
          </a:xfrm>
        </p:spPr>
        <p:txBody>
          <a:bodyPr>
            <a:normAutofit fontScale="92500" lnSpcReduction="20000"/>
          </a:bodyPr>
          <a:lstStyle/>
          <a:p>
            <a:pPr marL="0" indent="0" algn="just">
              <a:lnSpc>
                <a:spcPct val="150000"/>
              </a:lnSpc>
              <a:spcAft>
                <a:spcPts val="1125"/>
              </a:spcAft>
              <a:buNone/>
            </a:pPr>
            <a:r>
              <a:rPr lang="pt-BR" dirty="0"/>
              <a:t>	A criação de um protótipo para a realização de testes tem como propósito fundamental “testar as ideias” dos desenvolvedores. Entregar o sistema em uma versão de teste para que o cliente veja como seria na vida real é uma maneira muito interessante de identificar requisitos faltantes, recursos desnecessários e outras alterações que podem ser feitas na arquitetura do sistema.</a:t>
            </a:r>
          </a:p>
          <a:p>
            <a:pPr marL="0" indent="0" algn="just">
              <a:lnSpc>
                <a:spcPct val="150000"/>
              </a:lnSpc>
              <a:spcAft>
                <a:spcPts val="1125"/>
              </a:spcAft>
              <a:buNone/>
            </a:pPr>
            <a:r>
              <a:rPr lang="pt-BR" dirty="0"/>
              <a:t>	O protótipo é muito útil para que a empresa possa “errar barato” e “errar rápido”. Assim, os erros e acertos são identificados rapidamente, com baixo custo e as alterações necessárias são incluídas nos requisitos da versão final.</a:t>
            </a:r>
          </a:p>
          <a:p>
            <a:pPr marL="0" indent="0" algn="just">
              <a:lnSpc>
                <a:spcPct val="150000"/>
              </a:lnSpc>
              <a:spcAft>
                <a:spcPts val="1125"/>
              </a:spcAft>
              <a:buNone/>
            </a:pPr>
            <a:endParaRPr lang="pt-BR" dirty="0"/>
          </a:p>
        </p:txBody>
      </p:sp>
    </p:spTree>
    <p:extLst>
      <p:ext uri="{BB962C8B-B14F-4D97-AF65-F5344CB8AC3E}">
        <p14:creationId xmlns:p14="http://schemas.microsoft.com/office/powerpoint/2010/main" val="2993896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F6AF2-951D-3B95-9A51-03970ABBA6B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0540C65-DFAC-9F1D-ADE1-33A4FDA1D099}"/>
              </a:ext>
            </a:extLst>
          </p:cNvPr>
          <p:cNvSpPr>
            <a:spLocks noGrp="1"/>
          </p:cNvSpPr>
          <p:nvPr>
            <p:ph type="title"/>
          </p:nvPr>
        </p:nvSpPr>
        <p:spPr>
          <a:xfrm>
            <a:off x="267285" y="618349"/>
            <a:ext cx="11465169" cy="1325563"/>
          </a:xfrm>
        </p:spPr>
        <p:txBody>
          <a:bodyPr>
            <a:normAutofit/>
          </a:bodyPr>
          <a:lstStyle/>
          <a:p>
            <a:pPr algn="ctr"/>
            <a:r>
              <a:rPr lang="pt-BR" b="1" dirty="0">
                <a:latin typeface="Arial" panose="020B0604020202020204" pitchFamily="34" charset="0"/>
                <a:cs typeface="Arial" panose="020B0604020202020204" pitchFamily="34" charset="0"/>
              </a:rPr>
              <a:t>Técnica 5: Desenvolvimento Compartilhado</a:t>
            </a:r>
          </a:p>
        </p:txBody>
      </p:sp>
      <p:sp>
        <p:nvSpPr>
          <p:cNvPr id="3" name="Espaço Reservado para Conteúdo 2">
            <a:extLst>
              <a:ext uri="{FF2B5EF4-FFF2-40B4-BE49-F238E27FC236}">
                <a16:creationId xmlns:a16="http://schemas.microsoft.com/office/drawing/2014/main" id="{5636A768-C6F6-BB2D-1CCB-57714D5C7968}"/>
              </a:ext>
            </a:extLst>
          </p:cNvPr>
          <p:cNvSpPr>
            <a:spLocks noGrp="1"/>
          </p:cNvSpPr>
          <p:nvPr>
            <p:ph idx="1"/>
          </p:nvPr>
        </p:nvSpPr>
        <p:spPr>
          <a:xfrm>
            <a:off x="379829" y="1943912"/>
            <a:ext cx="11353800" cy="4710105"/>
          </a:xfrm>
        </p:spPr>
        <p:txBody>
          <a:bodyPr>
            <a:normAutofit fontScale="77500" lnSpcReduction="20000"/>
          </a:bodyPr>
          <a:lstStyle/>
          <a:p>
            <a:pPr marL="0" indent="0" algn="just">
              <a:lnSpc>
                <a:spcPct val="150000"/>
              </a:lnSpc>
              <a:spcAft>
                <a:spcPts val="1125"/>
              </a:spcAft>
              <a:buNone/>
            </a:pPr>
            <a:r>
              <a:rPr lang="pt-BR" dirty="0"/>
              <a:t>	O desenvolvimento compartilhado é uma técnica que visa criar um ambiente de cooperação no desenvolvimento de sistemas. A ideia é promover dinâmicas em grupo, usando esquemas visuais e reuniões estruturadas. O resultado final do trabalho é documentado e assinado por todos os participantes, criando um vínculo simbólico entre todos.</a:t>
            </a:r>
          </a:p>
          <a:p>
            <a:pPr marL="0" indent="0" algn="just">
              <a:lnSpc>
                <a:spcPct val="150000"/>
              </a:lnSpc>
              <a:spcAft>
                <a:spcPts val="1125"/>
              </a:spcAft>
              <a:buNone/>
            </a:pPr>
            <a:r>
              <a:rPr lang="pt-BR" dirty="0"/>
              <a:t>	Esse é o tipo de processo interessante para quem tem clientes de longa data, que gostariam de se envolver mais com a inovação e a criação dos sistemas de gestão. Passar por um processo desse tipo aumenta a confiança e sensação de pertencimento nos clientes, o que é muito útil em tempos de economia digital.</a:t>
            </a:r>
          </a:p>
          <a:p>
            <a:pPr marL="0" indent="0" algn="just">
              <a:lnSpc>
                <a:spcPct val="160000"/>
              </a:lnSpc>
              <a:spcAft>
                <a:spcPts val="1125"/>
              </a:spcAft>
              <a:buNone/>
            </a:pPr>
            <a:endParaRPr lang="pt-BR" dirty="0"/>
          </a:p>
        </p:txBody>
      </p:sp>
    </p:spTree>
    <p:extLst>
      <p:ext uri="{BB962C8B-B14F-4D97-AF65-F5344CB8AC3E}">
        <p14:creationId xmlns:p14="http://schemas.microsoft.com/office/powerpoint/2010/main" val="2186713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10D41-F531-3993-5B9E-E51C668702C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47B32AA-C8B4-CC11-DE49-706C64B66DDD}"/>
              </a:ext>
            </a:extLst>
          </p:cNvPr>
          <p:cNvSpPr>
            <a:spLocks noGrp="1"/>
          </p:cNvSpPr>
          <p:nvPr>
            <p:ph type="title"/>
          </p:nvPr>
        </p:nvSpPr>
        <p:spPr>
          <a:xfrm>
            <a:off x="267285" y="618349"/>
            <a:ext cx="11465169" cy="1325563"/>
          </a:xfrm>
        </p:spPr>
        <p:txBody>
          <a:bodyPr>
            <a:normAutofit/>
          </a:bodyPr>
          <a:lstStyle/>
          <a:p>
            <a:pPr algn="ctr"/>
            <a:r>
              <a:rPr lang="pt-BR" b="1" dirty="0">
                <a:latin typeface="Arial" panose="020B0604020202020204" pitchFamily="34" charset="0"/>
                <a:cs typeface="Arial" panose="020B0604020202020204" pitchFamily="34" charset="0"/>
              </a:rPr>
              <a:t>Crie o seus </a:t>
            </a:r>
            <a:r>
              <a:rPr lang="pt-BR" b="1" dirty="0" err="1">
                <a:latin typeface="Arial" panose="020B0604020202020204" pitchFamily="34" charset="0"/>
                <a:cs typeface="Arial" panose="020B0604020202020204" pitchFamily="34" charset="0"/>
              </a:rPr>
              <a:t>User</a:t>
            </a:r>
            <a:r>
              <a:rPr lang="pt-BR" b="1" dirty="0">
                <a:latin typeface="Arial" panose="020B0604020202020204" pitchFamily="34" charset="0"/>
                <a:cs typeface="Arial" panose="020B0604020202020204" pitchFamily="34" charset="0"/>
              </a:rPr>
              <a:t> Stories</a:t>
            </a:r>
          </a:p>
        </p:txBody>
      </p:sp>
      <p:sp>
        <p:nvSpPr>
          <p:cNvPr id="3" name="Espaço Reservado para Conteúdo 2">
            <a:extLst>
              <a:ext uri="{FF2B5EF4-FFF2-40B4-BE49-F238E27FC236}">
                <a16:creationId xmlns:a16="http://schemas.microsoft.com/office/drawing/2014/main" id="{0C6783D2-E27F-21C4-283A-D74D35D1F3EE}"/>
              </a:ext>
            </a:extLst>
          </p:cNvPr>
          <p:cNvSpPr>
            <a:spLocks noGrp="1"/>
          </p:cNvSpPr>
          <p:nvPr>
            <p:ph idx="1"/>
          </p:nvPr>
        </p:nvSpPr>
        <p:spPr>
          <a:xfrm>
            <a:off x="379829" y="1943912"/>
            <a:ext cx="11353800" cy="4710105"/>
          </a:xfrm>
        </p:spPr>
        <p:txBody>
          <a:bodyPr>
            <a:normAutofit fontScale="62500" lnSpcReduction="20000"/>
          </a:bodyPr>
          <a:lstStyle/>
          <a:p>
            <a:pPr marL="0" indent="0" algn="just">
              <a:lnSpc>
                <a:spcPct val="150000"/>
              </a:lnSpc>
              <a:spcAft>
                <a:spcPts val="1125"/>
              </a:spcAft>
              <a:buNone/>
            </a:pPr>
            <a:r>
              <a:rPr lang="pt-BR" dirty="0"/>
              <a:t>	Considerando que você têm um tema definido, elabore a documentação contendo as seguintes informações:</a:t>
            </a:r>
          </a:p>
          <a:p>
            <a:pPr algn="just">
              <a:lnSpc>
                <a:spcPct val="150000"/>
              </a:lnSpc>
              <a:spcAft>
                <a:spcPts val="1125"/>
              </a:spcAft>
            </a:pPr>
            <a:r>
              <a:rPr lang="pt-BR" dirty="0"/>
              <a:t>Nome dos Integrantes do Grupo;</a:t>
            </a:r>
          </a:p>
          <a:p>
            <a:pPr algn="just">
              <a:lnSpc>
                <a:spcPct val="150000"/>
              </a:lnSpc>
              <a:spcAft>
                <a:spcPts val="1125"/>
              </a:spcAft>
            </a:pPr>
            <a:r>
              <a:rPr lang="pt-BR" dirty="0"/>
              <a:t>Tema;</a:t>
            </a:r>
          </a:p>
          <a:p>
            <a:pPr algn="just">
              <a:lnSpc>
                <a:spcPct val="150000"/>
              </a:lnSpc>
              <a:spcAft>
                <a:spcPts val="1125"/>
              </a:spcAft>
            </a:pPr>
            <a:r>
              <a:rPr lang="pt-BR" dirty="0"/>
              <a:t>Defina o Modelo de Processo a ser utilizado (ciclo de vida);</a:t>
            </a:r>
          </a:p>
          <a:p>
            <a:pPr algn="just">
              <a:lnSpc>
                <a:spcPct val="150000"/>
              </a:lnSpc>
              <a:spcAft>
                <a:spcPts val="1125"/>
              </a:spcAft>
            </a:pPr>
            <a:r>
              <a:rPr lang="pt-BR" dirty="0"/>
              <a:t>Escolha uma ou mais técnicas utilizadas para o levantamento de requisitos;</a:t>
            </a:r>
          </a:p>
          <a:p>
            <a:pPr algn="just">
              <a:lnSpc>
                <a:spcPct val="150000"/>
              </a:lnSpc>
              <a:spcAft>
                <a:spcPts val="1125"/>
              </a:spcAft>
            </a:pPr>
            <a:r>
              <a:rPr lang="pt-BR" dirty="0"/>
              <a:t>Defina os requisitos funcionais e não funcionais;</a:t>
            </a:r>
          </a:p>
          <a:p>
            <a:pPr algn="just">
              <a:lnSpc>
                <a:spcPct val="150000"/>
              </a:lnSpc>
              <a:spcAft>
                <a:spcPts val="1125"/>
              </a:spcAft>
            </a:pPr>
            <a:r>
              <a:rPr lang="pt-BR" dirty="0"/>
              <a:t>Crie os </a:t>
            </a:r>
            <a:r>
              <a:rPr lang="pt-BR" dirty="0" err="1"/>
              <a:t>User</a:t>
            </a:r>
            <a:r>
              <a:rPr lang="pt-BR" dirty="0"/>
              <a:t> Stories;</a:t>
            </a:r>
          </a:p>
        </p:txBody>
      </p:sp>
    </p:spTree>
    <p:extLst>
      <p:ext uri="{BB962C8B-B14F-4D97-AF65-F5344CB8AC3E}">
        <p14:creationId xmlns:p14="http://schemas.microsoft.com/office/powerpoint/2010/main" val="1893695424"/>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TotalTime>
  <Words>1266</Words>
  <Application>Microsoft Office PowerPoint</Application>
  <PresentationFormat>Widescreen</PresentationFormat>
  <Paragraphs>53</Paragraphs>
  <Slides>11</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11</vt:i4>
      </vt:variant>
    </vt:vector>
  </HeadingPairs>
  <TitlesOfParts>
    <vt:vector size="16" baseType="lpstr">
      <vt:lpstr>Arial</vt:lpstr>
      <vt:lpstr>Calibri</vt:lpstr>
      <vt:lpstr>Calibri Light</vt:lpstr>
      <vt:lpstr>Roboto</vt:lpstr>
      <vt:lpstr>Tema do Office</vt:lpstr>
      <vt:lpstr>Aula 7 – Levantamento de Requisitos</vt:lpstr>
      <vt:lpstr>O que é o levantamento de requisitos</vt:lpstr>
      <vt:lpstr>Requisitos funcionais</vt:lpstr>
      <vt:lpstr>Requisitos não funcionais</vt:lpstr>
      <vt:lpstr>Processo de obtenção dos requisitos</vt:lpstr>
      <vt:lpstr>Técnica 1: Levantamento de acordo com os pontos de vista</vt:lpstr>
      <vt:lpstr>Técnica 2: Pesquisa Utilizando Etnografia</vt:lpstr>
      <vt:lpstr>Técnica 3: Grupos de Trabalho</vt:lpstr>
      <vt:lpstr>Técnica 4: Versões de Teste (prototipação)</vt:lpstr>
      <vt:lpstr>Técnica 5: Desenvolvimento Compartilhado</vt:lpstr>
      <vt:lpstr>Crie o seus User Stories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da disciplina</dc:title>
  <dc:creator>ALCIANO GUSTAVO GENOVEZ DE OLIVEIRA</dc:creator>
  <cp:lastModifiedBy>ALCIANO GUSTAVO GENOVEZ DE OLIVEIRA</cp:lastModifiedBy>
  <cp:revision>16</cp:revision>
  <dcterms:created xsi:type="dcterms:W3CDTF">2023-01-23T18:27:14Z</dcterms:created>
  <dcterms:modified xsi:type="dcterms:W3CDTF">2025-01-31T17:01:24Z</dcterms:modified>
</cp:coreProperties>
</file>