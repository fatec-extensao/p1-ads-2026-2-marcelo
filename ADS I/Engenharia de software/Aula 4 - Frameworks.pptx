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8" r:id="rId3"/>
    <p:sldId id="260" r:id="rId4"/>
    <p:sldId id="261" r:id="rId5"/>
    <p:sldId id="262" r:id="rId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E1E142-74BC-926F-E2EB-77FBA875BFFC}"/>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A681E985-7D4C-AA0D-A4AC-B1D337F4A2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373DC81-4AAB-2884-556F-76996698BD35}"/>
              </a:ext>
            </a:extLst>
          </p:cNvPr>
          <p:cNvSpPr>
            <a:spLocks noGrp="1"/>
          </p:cNvSpPr>
          <p:nvPr>
            <p:ph type="dt" sz="half" idx="10"/>
          </p:nvPr>
        </p:nvSpPr>
        <p:spPr/>
        <p:txBody>
          <a:bodyPr/>
          <a:lstStyle/>
          <a:p>
            <a:fld id="{FF9620AA-6E5F-4125-B41F-3E3AEED7F1AA}" type="datetimeFigureOut">
              <a:rPr lang="pt-BR" smtClean="0"/>
              <a:t>29/01/2025</a:t>
            </a:fld>
            <a:endParaRPr lang="pt-BR"/>
          </a:p>
        </p:txBody>
      </p:sp>
      <p:sp>
        <p:nvSpPr>
          <p:cNvPr id="5" name="Espaço Reservado para Rodapé 4">
            <a:extLst>
              <a:ext uri="{FF2B5EF4-FFF2-40B4-BE49-F238E27FC236}">
                <a16:creationId xmlns:a16="http://schemas.microsoft.com/office/drawing/2014/main" id="{5715AAFB-C79B-746C-9791-D5E15668706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DBE9DBC-93D8-C890-6F27-4AACFA98E804}"/>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2445403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0B30A5-6F4F-66C4-2342-1A838543BFF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FA61E31-A0DD-B6F9-FA15-A25A652B8995}"/>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AB91EC2-1E4E-B287-D094-0154CA46F2FA}"/>
              </a:ext>
            </a:extLst>
          </p:cNvPr>
          <p:cNvSpPr>
            <a:spLocks noGrp="1"/>
          </p:cNvSpPr>
          <p:nvPr>
            <p:ph type="dt" sz="half" idx="10"/>
          </p:nvPr>
        </p:nvSpPr>
        <p:spPr/>
        <p:txBody>
          <a:bodyPr/>
          <a:lstStyle/>
          <a:p>
            <a:fld id="{FF9620AA-6E5F-4125-B41F-3E3AEED7F1AA}" type="datetimeFigureOut">
              <a:rPr lang="pt-BR" smtClean="0"/>
              <a:t>29/01/2025</a:t>
            </a:fld>
            <a:endParaRPr lang="pt-BR"/>
          </a:p>
        </p:txBody>
      </p:sp>
      <p:sp>
        <p:nvSpPr>
          <p:cNvPr id="5" name="Espaço Reservado para Rodapé 4">
            <a:extLst>
              <a:ext uri="{FF2B5EF4-FFF2-40B4-BE49-F238E27FC236}">
                <a16:creationId xmlns:a16="http://schemas.microsoft.com/office/drawing/2014/main" id="{36A0734E-38A2-5881-B06B-C89B3999843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95FAE09-B0D2-4DA9-5791-751BBE09A74F}"/>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249446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728C34-41C9-39EF-C9A0-38CC64E46473}"/>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1C8C2751-ABE4-EE58-3D1C-1B9221757F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32514B5-4CB2-8C65-1C0A-CF342AE43C6F}"/>
              </a:ext>
            </a:extLst>
          </p:cNvPr>
          <p:cNvSpPr>
            <a:spLocks noGrp="1"/>
          </p:cNvSpPr>
          <p:nvPr>
            <p:ph type="dt" sz="half" idx="10"/>
          </p:nvPr>
        </p:nvSpPr>
        <p:spPr/>
        <p:txBody>
          <a:bodyPr/>
          <a:lstStyle/>
          <a:p>
            <a:fld id="{FF9620AA-6E5F-4125-B41F-3E3AEED7F1AA}" type="datetimeFigureOut">
              <a:rPr lang="pt-BR" smtClean="0"/>
              <a:t>29/01/2025</a:t>
            </a:fld>
            <a:endParaRPr lang="pt-BR"/>
          </a:p>
        </p:txBody>
      </p:sp>
      <p:sp>
        <p:nvSpPr>
          <p:cNvPr id="5" name="Espaço Reservado para Rodapé 4">
            <a:extLst>
              <a:ext uri="{FF2B5EF4-FFF2-40B4-BE49-F238E27FC236}">
                <a16:creationId xmlns:a16="http://schemas.microsoft.com/office/drawing/2014/main" id="{BBC154A6-158D-8F1F-AF4A-F5C89DDEC9E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E4022CE-098D-A09D-A757-6CE779F4C4BA}"/>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18536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21E9C7-CB45-1853-CE29-7664FDF73C23}"/>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BB60218-2D53-D910-5438-1F5B4A4634A9}"/>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B8FD2EB3-BFE6-E18A-BCC0-5946D386A511}"/>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FC38EF9A-30BF-DB97-4EEB-8F02816AF798}"/>
              </a:ext>
            </a:extLst>
          </p:cNvPr>
          <p:cNvSpPr>
            <a:spLocks noGrp="1"/>
          </p:cNvSpPr>
          <p:nvPr>
            <p:ph type="dt" sz="half" idx="10"/>
          </p:nvPr>
        </p:nvSpPr>
        <p:spPr/>
        <p:txBody>
          <a:bodyPr/>
          <a:lstStyle/>
          <a:p>
            <a:fld id="{FF9620AA-6E5F-4125-B41F-3E3AEED7F1AA}" type="datetimeFigureOut">
              <a:rPr lang="pt-BR" smtClean="0"/>
              <a:t>29/01/2025</a:t>
            </a:fld>
            <a:endParaRPr lang="pt-BR"/>
          </a:p>
        </p:txBody>
      </p:sp>
      <p:sp>
        <p:nvSpPr>
          <p:cNvPr id="6" name="Espaço Reservado para Rodapé 5">
            <a:extLst>
              <a:ext uri="{FF2B5EF4-FFF2-40B4-BE49-F238E27FC236}">
                <a16:creationId xmlns:a16="http://schemas.microsoft.com/office/drawing/2014/main" id="{915DC055-52D7-6596-43E3-EC486CA331D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BCA39D4-C4B9-D85C-024A-8E978B21D8C7}"/>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767956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BF596C-5D65-BD9F-D6A2-37D30E876C75}"/>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94D6F4CA-6559-27A2-5E8F-6554EB7350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984D8990-0437-58F3-B10C-7A61DF3F9690}"/>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BBEED627-C972-F0E2-4A2B-48BCB27F36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40C407AF-D857-6100-8AC7-8FE7FFEF5B13}"/>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C3E92B7A-3242-D795-44C3-96611D54B4ED}"/>
              </a:ext>
            </a:extLst>
          </p:cNvPr>
          <p:cNvSpPr>
            <a:spLocks noGrp="1"/>
          </p:cNvSpPr>
          <p:nvPr>
            <p:ph type="dt" sz="half" idx="10"/>
          </p:nvPr>
        </p:nvSpPr>
        <p:spPr/>
        <p:txBody>
          <a:bodyPr/>
          <a:lstStyle/>
          <a:p>
            <a:fld id="{FF9620AA-6E5F-4125-B41F-3E3AEED7F1AA}" type="datetimeFigureOut">
              <a:rPr lang="pt-BR" smtClean="0"/>
              <a:t>29/01/2025</a:t>
            </a:fld>
            <a:endParaRPr lang="pt-BR"/>
          </a:p>
        </p:txBody>
      </p:sp>
      <p:sp>
        <p:nvSpPr>
          <p:cNvPr id="8" name="Espaço Reservado para Rodapé 7">
            <a:extLst>
              <a:ext uri="{FF2B5EF4-FFF2-40B4-BE49-F238E27FC236}">
                <a16:creationId xmlns:a16="http://schemas.microsoft.com/office/drawing/2014/main" id="{A119E54E-22E8-5790-98BE-619CC98342FB}"/>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F8F82D9A-9347-D87E-42E4-63C3D37C699F}"/>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311182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3BBA8B-8ACB-27D4-B618-1244CCA7D802}"/>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49259340-78DA-5B8C-2DF0-152A8AF776C7}"/>
              </a:ext>
            </a:extLst>
          </p:cNvPr>
          <p:cNvSpPr>
            <a:spLocks noGrp="1"/>
          </p:cNvSpPr>
          <p:nvPr>
            <p:ph type="dt" sz="half" idx="10"/>
          </p:nvPr>
        </p:nvSpPr>
        <p:spPr/>
        <p:txBody>
          <a:bodyPr/>
          <a:lstStyle/>
          <a:p>
            <a:fld id="{FF9620AA-6E5F-4125-B41F-3E3AEED7F1AA}" type="datetimeFigureOut">
              <a:rPr lang="pt-BR" smtClean="0"/>
              <a:t>29/01/2025</a:t>
            </a:fld>
            <a:endParaRPr lang="pt-BR"/>
          </a:p>
        </p:txBody>
      </p:sp>
      <p:sp>
        <p:nvSpPr>
          <p:cNvPr id="4" name="Espaço Reservado para Rodapé 3">
            <a:extLst>
              <a:ext uri="{FF2B5EF4-FFF2-40B4-BE49-F238E27FC236}">
                <a16:creationId xmlns:a16="http://schemas.microsoft.com/office/drawing/2014/main" id="{EAB9173F-91F5-F203-4184-C28AD54E0824}"/>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F033BB08-C553-7883-2779-AAA921EF20CF}"/>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143249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528C5704-E314-112F-AFCB-599B433032CB}"/>
              </a:ext>
            </a:extLst>
          </p:cNvPr>
          <p:cNvSpPr>
            <a:spLocks noGrp="1"/>
          </p:cNvSpPr>
          <p:nvPr>
            <p:ph type="dt" sz="half" idx="10"/>
          </p:nvPr>
        </p:nvSpPr>
        <p:spPr/>
        <p:txBody>
          <a:bodyPr/>
          <a:lstStyle/>
          <a:p>
            <a:fld id="{FF9620AA-6E5F-4125-B41F-3E3AEED7F1AA}" type="datetimeFigureOut">
              <a:rPr lang="pt-BR" smtClean="0"/>
              <a:t>29/01/2025</a:t>
            </a:fld>
            <a:endParaRPr lang="pt-BR"/>
          </a:p>
        </p:txBody>
      </p:sp>
      <p:sp>
        <p:nvSpPr>
          <p:cNvPr id="3" name="Espaço Reservado para Rodapé 2">
            <a:extLst>
              <a:ext uri="{FF2B5EF4-FFF2-40B4-BE49-F238E27FC236}">
                <a16:creationId xmlns:a16="http://schemas.microsoft.com/office/drawing/2014/main" id="{E90D5760-AAE4-DE15-A30D-35932BE43EB6}"/>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BD39C456-1CC5-054F-768C-BD120FFE79B7}"/>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2473958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8A94D0-9A60-9424-70C9-B31C7C9705CE}"/>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5C3E2C65-2653-FF85-327D-A6BD326FAD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90225E2D-A86D-0F74-0AAE-A6B78AD937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6D7526E-58F6-F9E5-B862-29310F9A062E}"/>
              </a:ext>
            </a:extLst>
          </p:cNvPr>
          <p:cNvSpPr>
            <a:spLocks noGrp="1"/>
          </p:cNvSpPr>
          <p:nvPr>
            <p:ph type="dt" sz="half" idx="10"/>
          </p:nvPr>
        </p:nvSpPr>
        <p:spPr/>
        <p:txBody>
          <a:bodyPr/>
          <a:lstStyle/>
          <a:p>
            <a:fld id="{FF9620AA-6E5F-4125-B41F-3E3AEED7F1AA}" type="datetimeFigureOut">
              <a:rPr lang="pt-BR" smtClean="0"/>
              <a:t>29/01/2025</a:t>
            </a:fld>
            <a:endParaRPr lang="pt-BR"/>
          </a:p>
        </p:txBody>
      </p:sp>
      <p:sp>
        <p:nvSpPr>
          <p:cNvPr id="6" name="Espaço Reservado para Rodapé 5">
            <a:extLst>
              <a:ext uri="{FF2B5EF4-FFF2-40B4-BE49-F238E27FC236}">
                <a16:creationId xmlns:a16="http://schemas.microsoft.com/office/drawing/2014/main" id="{45F06302-70A4-4FC1-A621-FD94B394E13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F2FAB4A-3BC6-95CB-BC15-EBEAAC4340D6}"/>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425776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8510FB-8D8E-BAFA-9FB7-0F492E2978DC}"/>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7F63C6A-C658-7E67-3447-A697AA9555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9A8779E3-7D20-7E6E-8F78-525889158C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0EEEDC1-88AF-896B-C719-1CA220A0933C}"/>
              </a:ext>
            </a:extLst>
          </p:cNvPr>
          <p:cNvSpPr>
            <a:spLocks noGrp="1"/>
          </p:cNvSpPr>
          <p:nvPr>
            <p:ph type="dt" sz="half" idx="10"/>
          </p:nvPr>
        </p:nvSpPr>
        <p:spPr/>
        <p:txBody>
          <a:bodyPr/>
          <a:lstStyle/>
          <a:p>
            <a:fld id="{FF9620AA-6E5F-4125-B41F-3E3AEED7F1AA}" type="datetimeFigureOut">
              <a:rPr lang="pt-BR" smtClean="0"/>
              <a:t>29/01/2025</a:t>
            </a:fld>
            <a:endParaRPr lang="pt-BR"/>
          </a:p>
        </p:txBody>
      </p:sp>
      <p:sp>
        <p:nvSpPr>
          <p:cNvPr id="6" name="Espaço Reservado para Rodapé 5">
            <a:extLst>
              <a:ext uri="{FF2B5EF4-FFF2-40B4-BE49-F238E27FC236}">
                <a16:creationId xmlns:a16="http://schemas.microsoft.com/office/drawing/2014/main" id="{4FEEC758-7947-0F58-F332-1A635B8AFBD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E2338A1-A01B-EA7B-E2F0-97647DEEB26A}"/>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131152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EC9DF1-4B0B-D254-67C2-12EE363BFA00}"/>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35B0764F-B933-ECD0-703D-4966E09FEFAA}"/>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6FF4677-FEFD-EB9B-8000-E9F87DC0AF1F}"/>
              </a:ext>
            </a:extLst>
          </p:cNvPr>
          <p:cNvSpPr>
            <a:spLocks noGrp="1"/>
          </p:cNvSpPr>
          <p:nvPr>
            <p:ph type="dt" sz="half" idx="10"/>
          </p:nvPr>
        </p:nvSpPr>
        <p:spPr/>
        <p:txBody>
          <a:bodyPr/>
          <a:lstStyle/>
          <a:p>
            <a:fld id="{FF9620AA-6E5F-4125-B41F-3E3AEED7F1AA}" type="datetimeFigureOut">
              <a:rPr lang="pt-BR" smtClean="0"/>
              <a:t>29/01/2025</a:t>
            </a:fld>
            <a:endParaRPr lang="pt-BR"/>
          </a:p>
        </p:txBody>
      </p:sp>
      <p:sp>
        <p:nvSpPr>
          <p:cNvPr id="5" name="Espaço Reservado para Rodapé 4">
            <a:extLst>
              <a:ext uri="{FF2B5EF4-FFF2-40B4-BE49-F238E27FC236}">
                <a16:creationId xmlns:a16="http://schemas.microsoft.com/office/drawing/2014/main" id="{96C4EF02-3C5F-F29C-35AC-3750AF214C2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764A907-2D89-05C9-6C5E-A43C5E4D24A6}"/>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786413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949481F-0423-F04F-7F62-A2E58041E468}"/>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093328F0-8B3E-35F1-4A04-FFFF32BD038E}"/>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2551F63-0600-D1B2-5684-4059AC92CD80}"/>
              </a:ext>
            </a:extLst>
          </p:cNvPr>
          <p:cNvSpPr>
            <a:spLocks noGrp="1"/>
          </p:cNvSpPr>
          <p:nvPr>
            <p:ph type="dt" sz="half" idx="10"/>
          </p:nvPr>
        </p:nvSpPr>
        <p:spPr/>
        <p:txBody>
          <a:bodyPr/>
          <a:lstStyle/>
          <a:p>
            <a:fld id="{FF9620AA-6E5F-4125-B41F-3E3AEED7F1AA}" type="datetimeFigureOut">
              <a:rPr lang="pt-BR" smtClean="0"/>
              <a:t>29/01/2025</a:t>
            </a:fld>
            <a:endParaRPr lang="pt-BR"/>
          </a:p>
        </p:txBody>
      </p:sp>
      <p:sp>
        <p:nvSpPr>
          <p:cNvPr id="5" name="Espaço Reservado para Rodapé 4">
            <a:extLst>
              <a:ext uri="{FF2B5EF4-FFF2-40B4-BE49-F238E27FC236}">
                <a16:creationId xmlns:a16="http://schemas.microsoft.com/office/drawing/2014/main" id="{AA13E758-04C0-A7BA-8BC9-BEBCAB024BF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DFCA654-213B-B2EA-F2AA-8EB73D3A0501}"/>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4005942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5017B0B6-059F-8AB0-C276-9A1074FF0C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727411C1-D900-4A5F-49E0-8CC8F784AA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81C08CC-B542-AC6B-B298-3B50669110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9620AA-6E5F-4125-B41F-3E3AEED7F1AA}" type="datetimeFigureOut">
              <a:rPr lang="pt-BR" smtClean="0"/>
              <a:t>29/01/2025</a:t>
            </a:fld>
            <a:endParaRPr lang="pt-BR"/>
          </a:p>
        </p:txBody>
      </p:sp>
      <p:sp>
        <p:nvSpPr>
          <p:cNvPr id="5" name="Espaço Reservado para Rodapé 4">
            <a:extLst>
              <a:ext uri="{FF2B5EF4-FFF2-40B4-BE49-F238E27FC236}">
                <a16:creationId xmlns:a16="http://schemas.microsoft.com/office/drawing/2014/main" id="{6A4772E5-ABB7-16D4-8F77-FC216250D3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24AE2E56-00F2-9BFD-5310-55B69FAF77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8E552C-E211-4F70-8BC2-7B71CEC424F2}" type="slidenum">
              <a:rPr lang="pt-BR" smtClean="0"/>
              <a:t>‹nº›</a:t>
            </a:fld>
            <a:endParaRPr lang="pt-BR"/>
          </a:p>
        </p:txBody>
      </p:sp>
    </p:spTree>
    <p:extLst>
      <p:ext uri="{BB962C8B-B14F-4D97-AF65-F5344CB8AC3E}">
        <p14:creationId xmlns:p14="http://schemas.microsoft.com/office/powerpoint/2010/main" val="42839976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C77820-038B-7C7E-8881-F05018D26ABD}"/>
              </a:ext>
            </a:extLst>
          </p:cNvPr>
          <p:cNvSpPr>
            <a:spLocks noGrp="1"/>
          </p:cNvSpPr>
          <p:nvPr>
            <p:ph type="title"/>
          </p:nvPr>
        </p:nvSpPr>
        <p:spPr/>
        <p:txBody>
          <a:bodyPr/>
          <a:lstStyle/>
          <a:p>
            <a:pPr algn="ctr"/>
            <a:r>
              <a:rPr lang="pt-BR" b="1" dirty="0">
                <a:latin typeface="Arial" panose="020B0604020202020204" pitchFamily="34" charset="0"/>
                <a:cs typeface="Arial" panose="020B0604020202020204" pitchFamily="34" charset="0"/>
              </a:rPr>
              <a:t>Aula 4 – </a:t>
            </a:r>
            <a:r>
              <a:rPr lang="pt-BR" b="1" i="1" dirty="0">
                <a:latin typeface="Arial" panose="020B0604020202020204" pitchFamily="34" charset="0"/>
                <a:cs typeface="Arial" panose="020B0604020202020204" pitchFamily="34" charset="0"/>
              </a:rPr>
              <a:t>Frameworks</a:t>
            </a:r>
            <a:endParaRPr lang="pt-BR" b="1" dirty="0">
              <a:latin typeface="Arial" panose="020B0604020202020204" pitchFamily="34" charset="0"/>
              <a:cs typeface="Arial" panose="020B0604020202020204" pitchFamily="34" charset="0"/>
            </a:endParaRPr>
          </a:p>
        </p:txBody>
      </p:sp>
      <p:sp>
        <p:nvSpPr>
          <p:cNvPr id="3" name="Espaço Reservado para Conteúdo 2">
            <a:extLst>
              <a:ext uri="{FF2B5EF4-FFF2-40B4-BE49-F238E27FC236}">
                <a16:creationId xmlns:a16="http://schemas.microsoft.com/office/drawing/2014/main" id="{A4A57165-1F9E-2CCC-7F43-077B3C1E8CF9}"/>
              </a:ext>
            </a:extLst>
          </p:cNvPr>
          <p:cNvSpPr>
            <a:spLocks noGrp="1"/>
          </p:cNvSpPr>
          <p:nvPr>
            <p:ph idx="1"/>
          </p:nvPr>
        </p:nvSpPr>
        <p:spPr/>
        <p:txBody>
          <a:bodyPr>
            <a:normAutofit/>
          </a:bodyPr>
          <a:lstStyle/>
          <a:p>
            <a:pPr marL="0" indent="0" algn="just">
              <a:lnSpc>
                <a:spcPct val="150000"/>
              </a:lnSpc>
              <a:buNone/>
            </a:pPr>
            <a:r>
              <a:rPr lang="pt-BR" sz="2400" dirty="0">
                <a:latin typeface="Arial" panose="020B0604020202020204" pitchFamily="34" charset="0"/>
                <a:cs typeface="Arial" panose="020B0604020202020204" pitchFamily="34" charset="0"/>
              </a:rPr>
              <a:t>	</a:t>
            </a:r>
            <a:r>
              <a:rPr lang="pt-BR" b="0" i="1" dirty="0">
                <a:effectLst/>
                <a:latin typeface="Arial" panose="020B0604020202020204" pitchFamily="34" charset="0"/>
                <a:cs typeface="Arial" panose="020B0604020202020204" pitchFamily="34" charset="0"/>
              </a:rPr>
              <a:t>Frameworks</a:t>
            </a:r>
            <a:r>
              <a:rPr lang="pt-BR" b="0" i="0" dirty="0">
                <a:effectLst/>
                <a:latin typeface="Arial" panose="020B0604020202020204" pitchFamily="34" charset="0"/>
                <a:cs typeface="Arial" panose="020B0604020202020204" pitchFamily="34" charset="0"/>
              </a:rPr>
              <a:t> são estruturas compostas por um conjunto de códigos genéricos que permite o desenvolvimento de sistemas e aplicações. Um </a:t>
            </a:r>
            <a:r>
              <a:rPr lang="pt-BR" b="0" i="1" dirty="0">
                <a:effectLst/>
                <a:latin typeface="Arial" panose="020B0604020202020204" pitchFamily="34" charset="0"/>
                <a:cs typeface="Arial" panose="020B0604020202020204" pitchFamily="34" charset="0"/>
              </a:rPr>
              <a:t>framework</a:t>
            </a:r>
            <a:r>
              <a:rPr lang="pt-BR" b="0" i="0" dirty="0">
                <a:effectLst/>
                <a:latin typeface="Arial" panose="020B0604020202020204" pitchFamily="34" charset="0"/>
                <a:cs typeface="Arial" panose="020B0604020202020204" pitchFamily="34" charset="0"/>
              </a:rPr>
              <a:t> funciona como uma espécie de </a:t>
            </a:r>
            <a:r>
              <a:rPr lang="pt-BR" b="0" i="1" dirty="0" err="1">
                <a:effectLst/>
                <a:latin typeface="Arial" panose="020B0604020202020204" pitchFamily="34" charset="0"/>
                <a:cs typeface="Arial" panose="020B0604020202020204" pitchFamily="34" charset="0"/>
              </a:rPr>
              <a:t>template</a:t>
            </a:r>
            <a:r>
              <a:rPr lang="pt-BR" b="0" i="0" dirty="0">
                <a:effectLst/>
                <a:latin typeface="Arial" panose="020B0604020202020204" pitchFamily="34" charset="0"/>
                <a:cs typeface="Arial" panose="020B0604020202020204" pitchFamily="34" charset="0"/>
              </a:rPr>
              <a:t> ou modelo que, quando utilizado, oferece certos artifícios e elementos estruturais básicos para a criação de alguma aplicação ou software.</a:t>
            </a:r>
            <a:endParaRPr lang="pt-B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4074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C77820-038B-7C7E-8881-F05018D26ABD}"/>
              </a:ext>
            </a:extLst>
          </p:cNvPr>
          <p:cNvSpPr>
            <a:spLocks noGrp="1"/>
          </p:cNvSpPr>
          <p:nvPr>
            <p:ph type="title"/>
          </p:nvPr>
        </p:nvSpPr>
        <p:spPr/>
        <p:txBody>
          <a:bodyPr/>
          <a:lstStyle/>
          <a:p>
            <a:pPr algn="ctr"/>
            <a:r>
              <a:rPr lang="pt-BR" b="1" dirty="0">
                <a:latin typeface="Arial" panose="020B0604020202020204" pitchFamily="34" charset="0"/>
                <a:cs typeface="Arial" panose="020B0604020202020204" pitchFamily="34" charset="0"/>
              </a:rPr>
              <a:t>Aula 4 – </a:t>
            </a:r>
            <a:r>
              <a:rPr lang="pt-BR" b="1" i="1" dirty="0">
                <a:latin typeface="Arial" panose="020B0604020202020204" pitchFamily="34" charset="0"/>
                <a:cs typeface="Arial" panose="020B0604020202020204" pitchFamily="34" charset="0"/>
              </a:rPr>
              <a:t>Frameworks</a:t>
            </a:r>
            <a:endParaRPr lang="pt-BR" b="1" dirty="0">
              <a:latin typeface="Arial" panose="020B0604020202020204" pitchFamily="34" charset="0"/>
              <a:cs typeface="Arial" panose="020B0604020202020204" pitchFamily="34" charset="0"/>
            </a:endParaRPr>
          </a:p>
        </p:txBody>
      </p:sp>
      <p:sp>
        <p:nvSpPr>
          <p:cNvPr id="3" name="Espaço Reservado para Conteúdo 2">
            <a:extLst>
              <a:ext uri="{FF2B5EF4-FFF2-40B4-BE49-F238E27FC236}">
                <a16:creationId xmlns:a16="http://schemas.microsoft.com/office/drawing/2014/main" id="{A4A57165-1F9E-2CCC-7F43-077B3C1E8CF9}"/>
              </a:ext>
            </a:extLst>
          </p:cNvPr>
          <p:cNvSpPr>
            <a:spLocks noGrp="1"/>
          </p:cNvSpPr>
          <p:nvPr>
            <p:ph idx="1"/>
          </p:nvPr>
        </p:nvSpPr>
        <p:spPr/>
        <p:txBody>
          <a:bodyPr>
            <a:normAutofit/>
          </a:bodyPr>
          <a:lstStyle/>
          <a:p>
            <a:pPr marL="0" indent="0" algn="just">
              <a:lnSpc>
                <a:spcPct val="150000"/>
              </a:lnSpc>
              <a:buNone/>
            </a:pPr>
            <a:r>
              <a:rPr lang="pt-BR" sz="2400" dirty="0">
                <a:latin typeface="Arial" panose="020B0604020202020204" pitchFamily="34" charset="0"/>
                <a:cs typeface="Arial" panose="020B0604020202020204" pitchFamily="34" charset="0"/>
              </a:rPr>
              <a:t>	Os </a:t>
            </a:r>
            <a:r>
              <a:rPr lang="pt-BR" i="1" dirty="0">
                <a:effectLst/>
                <a:latin typeface="Arial" panose="020B0604020202020204" pitchFamily="34" charset="0"/>
                <a:cs typeface="Arial" panose="020B0604020202020204" pitchFamily="34" charset="0"/>
              </a:rPr>
              <a:t>Frameworks</a:t>
            </a:r>
            <a:r>
              <a:rPr lang="pt-BR" i="0" dirty="0">
                <a:effectLst/>
                <a:latin typeface="Arial" panose="020B0604020202020204" pitchFamily="34" charset="0"/>
                <a:cs typeface="Arial" panose="020B0604020202020204" pitchFamily="34" charset="0"/>
              </a:rPr>
              <a:t> estão se tornando cada vez mais comuns no universo digital. Hoje em dia o conceito de </a:t>
            </a:r>
            <a:r>
              <a:rPr lang="pt-BR" i="1" dirty="0">
                <a:effectLst/>
                <a:latin typeface="Arial" panose="020B0604020202020204" pitchFamily="34" charset="0"/>
                <a:cs typeface="Arial" panose="020B0604020202020204" pitchFamily="34" charset="0"/>
              </a:rPr>
              <a:t>framework</a:t>
            </a:r>
            <a:r>
              <a:rPr lang="pt-BR" i="0" dirty="0">
                <a:effectLst/>
                <a:latin typeface="Arial" panose="020B0604020202020204" pitchFamily="34" charset="0"/>
                <a:cs typeface="Arial" panose="020B0604020202020204" pitchFamily="34" charset="0"/>
              </a:rPr>
              <a:t> vem sendo utilizado até no mundo empresarial, mas é na programação que a ideia se origina e populariza.</a:t>
            </a:r>
            <a:endParaRPr lang="pt-B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671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C77820-038B-7C7E-8881-F05018D26ABD}"/>
              </a:ext>
            </a:extLst>
          </p:cNvPr>
          <p:cNvSpPr>
            <a:spLocks noGrp="1"/>
          </p:cNvSpPr>
          <p:nvPr>
            <p:ph type="title"/>
          </p:nvPr>
        </p:nvSpPr>
        <p:spPr/>
        <p:txBody>
          <a:bodyPr/>
          <a:lstStyle/>
          <a:p>
            <a:pPr algn="ctr"/>
            <a:r>
              <a:rPr lang="pt-BR" b="1" dirty="0">
                <a:latin typeface="Arial" panose="020B0604020202020204" pitchFamily="34" charset="0"/>
                <a:cs typeface="Arial" panose="020B0604020202020204" pitchFamily="34" charset="0"/>
              </a:rPr>
              <a:t>Aula 4 – </a:t>
            </a:r>
            <a:r>
              <a:rPr lang="pt-BR" b="1" i="1" dirty="0">
                <a:latin typeface="Arial" panose="020B0604020202020204" pitchFamily="34" charset="0"/>
                <a:cs typeface="Arial" panose="020B0604020202020204" pitchFamily="34" charset="0"/>
              </a:rPr>
              <a:t>Frameworks</a:t>
            </a:r>
            <a:endParaRPr lang="pt-BR" b="1" dirty="0">
              <a:latin typeface="Arial" panose="020B0604020202020204" pitchFamily="34" charset="0"/>
              <a:cs typeface="Arial" panose="020B0604020202020204" pitchFamily="34" charset="0"/>
            </a:endParaRPr>
          </a:p>
        </p:txBody>
      </p:sp>
      <p:sp>
        <p:nvSpPr>
          <p:cNvPr id="3" name="Espaço Reservado para Conteúdo 2">
            <a:extLst>
              <a:ext uri="{FF2B5EF4-FFF2-40B4-BE49-F238E27FC236}">
                <a16:creationId xmlns:a16="http://schemas.microsoft.com/office/drawing/2014/main" id="{A4A57165-1F9E-2CCC-7F43-077B3C1E8CF9}"/>
              </a:ext>
            </a:extLst>
          </p:cNvPr>
          <p:cNvSpPr>
            <a:spLocks noGrp="1"/>
          </p:cNvSpPr>
          <p:nvPr>
            <p:ph idx="1"/>
          </p:nvPr>
        </p:nvSpPr>
        <p:spPr/>
        <p:txBody>
          <a:bodyPr>
            <a:normAutofit/>
          </a:bodyPr>
          <a:lstStyle/>
          <a:p>
            <a:pPr marL="0" indent="0" algn="just">
              <a:lnSpc>
                <a:spcPct val="150000"/>
              </a:lnSpc>
              <a:buNone/>
            </a:pPr>
            <a:r>
              <a:rPr lang="pt-BR" sz="2400" dirty="0">
                <a:latin typeface="Arial" panose="020B0604020202020204" pitchFamily="34" charset="0"/>
                <a:cs typeface="Arial" panose="020B0604020202020204" pitchFamily="34" charset="0"/>
              </a:rPr>
              <a:t>	</a:t>
            </a:r>
            <a:r>
              <a:rPr lang="pt-BR" b="0" i="0" dirty="0">
                <a:effectLst/>
                <a:latin typeface="Arial" panose="020B0604020202020204" pitchFamily="34" charset="0"/>
                <a:cs typeface="Arial" panose="020B0604020202020204" pitchFamily="34" charset="0"/>
              </a:rPr>
              <a:t>Por serem uma espécie de “fundação” sobre a qual um projeto pode ser construído, possibilitam que ele não precise ser iniciado totalmente do zero pelos desenvolvedores. Isso é possível porque os </a:t>
            </a:r>
            <a:r>
              <a:rPr lang="pt-BR" b="0" i="1" dirty="0">
                <a:effectLst/>
                <a:latin typeface="Arial" panose="020B0604020202020204" pitchFamily="34" charset="0"/>
                <a:cs typeface="Arial" panose="020B0604020202020204" pitchFamily="34" charset="0"/>
              </a:rPr>
              <a:t>frameworks</a:t>
            </a:r>
            <a:r>
              <a:rPr lang="pt-BR" b="0" i="0" dirty="0">
                <a:effectLst/>
                <a:latin typeface="Arial" panose="020B0604020202020204" pitchFamily="34" charset="0"/>
                <a:cs typeface="Arial" panose="020B0604020202020204" pitchFamily="34" charset="0"/>
              </a:rPr>
              <a:t> oferecem componentes pré-prontos e soluções personalizáveis, agilizando o processo de desenvolvimento.</a:t>
            </a:r>
            <a:endParaRPr lang="pt-B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8746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C77820-038B-7C7E-8881-F05018D26ABD}"/>
              </a:ext>
            </a:extLst>
          </p:cNvPr>
          <p:cNvSpPr>
            <a:spLocks noGrp="1"/>
          </p:cNvSpPr>
          <p:nvPr>
            <p:ph type="title"/>
          </p:nvPr>
        </p:nvSpPr>
        <p:spPr/>
        <p:txBody>
          <a:bodyPr/>
          <a:lstStyle/>
          <a:p>
            <a:pPr algn="ctr"/>
            <a:r>
              <a:rPr lang="pt-BR" b="1" dirty="0">
                <a:latin typeface="Arial" panose="020B0604020202020204" pitchFamily="34" charset="0"/>
                <a:cs typeface="Arial" panose="020B0604020202020204" pitchFamily="34" charset="0"/>
              </a:rPr>
              <a:t>Aula 4 – </a:t>
            </a:r>
            <a:r>
              <a:rPr lang="pt-BR" b="1" i="1" dirty="0">
                <a:latin typeface="Arial" panose="020B0604020202020204" pitchFamily="34" charset="0"/>
                <a:cs typeface="Arial" panose="020B0604020202020204" pitchFamily="34" charset="0"/>
              </a:rPr>
              <a:t>Frameworks</a:t>
            </a:r>
            <a:endParaRPr lang="pt-BR" b="1" dirty="0">
              <a:latin typeface="Arial" panose="020B0604020202020204" pitchFamily="34" charset="0"/>
              <a:cs typeface="Arial" panose="020B0604020202020204" pitchFamily="34" charset="0"/>
            </a:endParaRPr>
          </a:p>
        </p:txBody>
      </p:sp>
      <p:sp>
        <p:nvSpPr>
          <p:cNvPr id="3" name="Espaço Reservado para Conteúdo 2">
            <a:extLst>
              <a:ext uri="{FF2B5EF4-FFF2-40B4-BE49-F238E27FC236}">
                <a16:creationId xmlns:a16="http://schemas.microsoft.com/office/drawing/2014/main" id="{A4A57165-1F9E-2CCC-7F43-077B3C1E8CF9}"/>
              </a:ext>
            </a:extLst>
          </p:cNvPr>
          <p:cNvSpPr>
            <a:spLocks noGrp="1"/>
          </p:cNvSpPr>
          <p:nvPr>
            <p:ph idx="1"/>
          </p:nvPr>
        </p:nvSpPr>
        <p:spPr>
          <a:xfrm>
            <a:off x="604914" y="1505243"/>
            <a:ext cx="10931769" cy="4987632"/>
          </a:xfrm>
        </p:spPr>
        <p:txBody>
          <a:bodyPr>
            <a:normAutofit fontScale="92500" lnSpcReduction="20000"/>
          </a:bodyPr>
          <a:lstStyle/>
          <a:p>
            <a:pPr marL="0" indent="0" algn="just">
              <a:lnSpc>
                <a:spcPct val="150000"/>
              </a:lnSpc>
              <a:buNone/>
            </a:pPr>
            <a:r>
              <a:rPr lang="pt-BR" b="0" i="0" dirty="0">
                <a:solidFill>
                  <a:srgbClr val="36344D"/>
                </a:solidFill>
                <a:effectLst/>
                <a:latin typeface="Arial" panose="020B0604020202020204" pitchFamily="34" charset="0"/>
                <a:cs typeface="Arial" panose="020B0604020202020204" pitchFamily="34" charset="0"/>
              </a:rPr>
              <a:t>	</a:t>
            </a:r>
            <a:r>
              <a:rPr lang="pt-BR" b="0" i="0" dirty="0">
                <a:effectLst/>
                <a:latin typeface="Arial" panose="020B0604020202020204" pitchFamily="34" charset="0"/>
                <a:cs typeface="Arial" panose="020B0604020202020204" pitchFamily="34" charset="0"/>
              </a:rPr>
              <a:t>As funcionalidades de um </a:t>
            </a:r>
            <a:r>
              <a:rPr lang="pt-BR" b="0" i="1" dirty="0">
                <a:effectLst/>
                <a:latin typeface="Arial" panose="020B0604020202020204" pitchFamily="34" charset="0"/>
                <a:cs typeface="Arial" panose="020B0604020202020204" pitchFamily="34" charset="0"/>
              </a:rPr>
              <a:t>framework</a:t>
            </a:r>
            <a:r>
              <a:rPr lang="pt-BR" b="0" i="0" dirty="0">
                <a:effectLst/>
                <a:latin typeface="Arial" panose="020B0604020202020204" pitchFamily="34" charset="0"/>
                <a:cs typeface="Arial" panose="020B0604020202020204" pitchFamily="34" charset="0"/>
              </a:rPr>
              <a:t> permitem que os desenvolvedores se dediquem às particularidades do projeto sem precisar se preocupar com os elementos básicos da sua estrutura. Por não precisarem começar tudo do zero, os programadores economizam tempo e dinheiro, além de diminuírem os riscos de erro.</a:t>
            </a:r>
          </a:p>
          <a:p>
            <a:pPr marL="0" indent="0" algn="just">
              <a:lnSpc>
                <a:spcPct val="150000"/>
              </a:lnSpc>
              <a:buNone/>
            </a:pPr>
            <a:r>
              <a:rPr lang="pt-BR" b="0" i="0" dirty="0">
                <a:effectLst/>
                <a:latin typeface="Arial" panose="020B0604020202020204" pitchFamily="34" charset="0"/>
                <a:cs typeface="Arial" panose="020B0604020202020204" pitchFamily="34" charset="0"/>
              </a:rPr>
              <a:t>	O processo de funcionamento se dá pela reutilização de conjuntos de códigos genéricos que podem ser aplicados na fundação de um projeto. Esse projeto deve corresponder à linguagem e natureza do </a:t>
            </a:r>
            <a:r>
              <a:rPr lang="pt-BR" b="0" i="1" dirty="0">
                <a:effectLst/>
                <a:latin typeface="Arial" panose="020B0604020202020204" pitchFamily="34" charset="0"/>
                <a:cs typeface="Arial" panose="020B0604020202020204" pitchFamily="34" charset="0"/>
              </a:rPr>
              <a:t>framework</a:t>
            </a:r>
            <a:r>
              <a:rPr lang="pt-BR" b="0" i="0" dirty="0">
                <a:effectLst/>
                <a:latin typeface="Arial" panose="020B0604020202020204" pitchFamily="34" charset="0"/>
                <a:cs typeface="Arial" panose="020B0604020202020204" pitchFamily="34" charset="0"/>
              </a:rPr>
              <a:t> em questão.</a:t>
            </a:r>
          </a:p>
        </p:txBody>
      </p:sp>
    </p:spTree>
    <p:extLst>
      <p:ext uri="{BB962C8B-B14F-4D97-AF65-F5344CB8AC3E}">
        <p14:creationId xmlns:p14="http://schemas.microsoft.com/office/powerpoint/2010/main" val="1764992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C77820-038B-7C7E-8881-F05018D26ABD}"/>
              </a:ext>
            </a:extLst>
          </p:cNvPr>
          <p:cNvSpPr>
            <a:spLocks noGrp="1"/>
          </p:cNvSpPr>
          <p:nvPr>
            <p:ph type="title"/>
          </p:nvPr>
        </p:nvSpPr>
        <p:spPr/>
        <p:txBody>
          <a:bodyPr/>
          <a:lstStyle/>
          <a:p>
            <a:pPr algn="ctr"/>
            <a:r>
              <a:rPr lang="pt-BR" b="1" dirty="0">
                <a:latin typeface="Arial" panose="020B0604020202020204" pitchFamily="34" charset="0"/>
                <a:cs typeface="Arial" panose="020B0604020202020204" pitchFamily="34" charset="0"/>
              </a:rPr>
              <a:t>Aula 4 – </a:t>
            </a:r>
            <a:r>
              <a:rPr lang="pt-BR" b="1" i="1" dirty="0">
                <a:latin typeface="Arial" panose="020B0604020202020204" pitchFamily="34" charset="0"/>
                <a:cs typeface="Arial" panose="020B0604020202020204" pitchFamily="34" charset="0"/>
              </a:rPr>
              <a:t>Frameworks</a:t>
            </a:r>
            <a:endParaRPr lang="pt-BR" b="1" dirty="0">
              <a:latin typeface="Arial" panose="020B0604020202020204" pitchFamily="34" charset="0"/>
              <a:cs typeface="Arial" panose="020B0604020202020204" pitchFamily="34" charset="0"/>
            </a:endParaRPr>
          </a:p>
        </p:txBody>
      </p:sp>
      <p:sp>
        <p:nvSpPr>
          <p:cNvPr id="3" name="Espaço Reservado para Conteúdo 2">
            <a:extLst>
              <a:ext uri="{FF2B5EF4-FFF2-40B4-BE49-F238E27FC236}">
                <a16:creationId xmlns:a16="http://schemas.microsoft.com/office/drawing/2014/main" id="{A4A57165-1F9E-2CCC-7F43-077B3C1E8CF9}"/>
              </a:ext>
            </a:extLst>
          </p:cNvPr>
          <p:cNvSpPr>
            <a:spLocks noGrp="1"/>
          </p:cNvSpPr>
          <p:nvPr>
            <p:ph idx="1"/>
          </p:nvPr>
        </p:nvSpPr>
        <p:spPr>
          <a:xfrm>
            <a:off x="393900" y="1547447"/>
            <a:ext cx="11353800" cy="4945428"/>
          </a:xfrm>
        </p:spPr>
        <p:txBody>
          <a:bodyPr>
            <a:normAutofit fontScale="62500" lnSpcReduction="20000"/>
          </a:bodyPr>
          <a:lstStyle/>
          <a:p>
            <a:pPr marL="0" indent="0" algn="just">
              <a:lnSpc>
                <a:spcPct val="170000"/>
              </a:lnSpc>
              <a:buNone/>
            </a:pPr>
            <a:r>
              <a:rPr lang="pt-BR" b="1" i="1" dirty="0">
                <a:effectLst/>
                <a:latin typeface="Arial" panose="020B0604020202020204" pitchFamily="34" charset="0"/>
                <a:cs typeface="Arial" panose="020B0604020202020204" pitchFamily="34" charset="0"/>
              </a:rPr>
              <a:t>Frameworks</a:t>
            </a:r>
            <a:r>
              <a:rPr lang="pt-BR" b="1" i="0" dirty="0">
                <a:effectLst/>
                <a:latin typeface="Arial" panose="020B0604020202020204" pitchFamily="34" charset="0"/>
                <a:cs typeface="Arial" panose="020B0604020202020204" pitchFamily="34" charset="0"/>
              </a:rPr>
              <a:t> para Aplicações Web</a:t>
            </a:r>
          </a:p>
          <a:p>
            <a:pPr marL="0" indent="0" algn="just">
              <a:lnSpc>
                <a:spcPct val="170000"/>
              </a:lnSpc>
              <a:buNone/>
            </a:pPr>
            <a:r>
              <a:rPr lang="pt-BR" b="0" i="1" dirty="0">
                <a:effectLst/>
                <a:latin typeface="Arial" panose="020B0604020202020204" pitchFamily="34" charset="0"/>
                <a:cs typeface="Arial" panose="020B0604020202020204" pitchFamily="34" charset="0"/>
              </a:rPr>
              <a:t>	Frameworks</a:t>
            </a:r>
            <a:r>
              <a:rPr lang="pt-BR" b="0" i="0" dirty="0">
                <a:effectLst/>
                <a:latin typeface="Arial" panose="020B0604020202020204" pitchFamily="34" charset="0"/>
                <a:cs typeface="Arial" panose="020B0604020202020204" pitchFamily="34" charset="0"/>
              </a:rPr>
              <a:t> para aplicações web fornecem suporte para o desenvolvimento de sistemas </a:t>
            </a:r>
            <a:r>
              <a:rPr lang="pt-BR" b="0" i="1" dirty="0">
                <a:effectLst/>
                <a:latin typeface="Arial" panose="020B0604020202020204" pitchFamily="34" charset="0"/>
                <a:cs typeface="Arial" panose="020B0604020202020204" pitchFamily="34" charset="0"/>
              </a:rPr>
              <a:t>online</a:t>
            </a:r>
            <a:r>
              <a:rPr lang="pt-BR" b="0" i="0" dirty="0">
                <a:effectLst/>
                <a:latin typeface="Arial" panose="020B0604020202020204" pitchFamily="34" charset="0"/>
                <a:cs typeface="Arial" panose="020B0604020202020204" pitchFamily="34" charset="0"/>
              </a:rPr>
              <a:t>, como sites, APIs, aplicativos e demais recursos disponíveis na Internet. </a:t>
            </a:r>
          </a:p>
          <a:p>
            <a:pPr marL="0" indent="0" algn="just">
              <a:lnSpc>
                <a:spcPct val="170000"/>
              </a:lnSpc>
              <a:buNone/>
            </a:pPr>
            <a:r>
              <a:rPr lang="pt-BR" b="1" i="0" dirty="0">
                <a:effectLst/>
                <a:latin typeface="Arial" panose="020B0604020202020204" pitchFamily="34" charset="0"/>
                <a:cs typeface="Arial" panose="020B0604020202020204" pitchFamily="34" charset="0"/>
              </a:rPr>
              <a:t>Exemplo: </a:t>
            </a:r>
            <a:r>
              <a:rPr lang="pt-BR" b="1" i="0" dirty="0" err="1">
                <a:effectLst/>
                <a:latin typeface="Arial" panose="020B0604020202020204" pitchFamily="34" charset="0"/>
                <a:cs typeface="Arial" panose="020B0604020202020204" pitchFamily="34" charset="0"/>
              </a:rPr>
              <a:t>Laravel</a:t>
            </a:r>
            <a:endParaRPr lang="pt-BR" b="1" i="0" dirty="0">
              <a:effectLst/>
              <a:latin typeface="Arial" panose="020B0604020202020204" pitchFamily="34" charset="0"/>
              <a:cs typeface="Arial" panose="020B0604020202020204" pitchFamily="34" charset="0"/>
            </a:endParaRPr>
          </a:p>
          <a:p>
            <a:pPr marL="0" indent="0" algn="just">
              <a:lnSpc>
                <a:spcPct val="170000"/>
              </a:lnSpc>
              <a:buNone/>
            </a:pPr>
            <a:r>
              <a:rPr lang="pt-BR" b="0" i="0" dirty="0">
                <a:effectLst/>
                <a:latin typeface="Arial" panose="020B0604020202020204" pitchFamily="34" charset="0"/>
                <a:cs typeface="Arial" panose="020B0604020202020204" pitchFamily="34" charset="0"/>
              </a:rPr>
              <a:t>	Trata-se de um </a:t>
            </a:r>
            <a:r>
              <a:rPr lang="pt-BR" b="0" i="1" dirty="0">
                <a:effectLst/>
                <a:latin typeface="Arial" panose="020B0604020202020204" pitchFamily="34" charset="0"/>
                <a:cs typeface="Arial" panose="020B0604020202020204" pitchFamily="34" charset="0"/>
              </a:rPr>
              <a:t>framework </a:t>
            </a:r>
            <a:r>
              <a:rPr lang="pt-BR" b="0" i="1" dirty="0" err="1">
                <a:effectLst/>
                <a:latin typeface="Arial" panose="020B0604020202020204" pitchFamily="34" charset="0"/>
                <a:cs typeface="Arial" panose="020B0604020202020204" pitchFamily="34" charset="0"/>
              </a:rPr>
              <a:t>back-end</a:t>
            </a:r>
            <a:r>
              <a:rPr lang="pt-BR" b="0" i="0" dirty="0">
                <a:effectLst/>
                <a:latin typeface="Arial" panose="020B0604020202020204" pitchFamily="34" charset="0"/>
                <a:cs typeface="Arial" panose="020B0604020202020204" pitchFamily="34" charset="0"/>
              </a:rPr>
              <a:t> baseado na linguagem de programação </a:t>
            </a:r>
            <a:r>
              <a:rPr lang="pt-BR" i="0" dirty="0">
                <a:effectLst/>
                <a:latin typeface="Arial" panose="020B0604020202020204" pitchFamily="34" charset="0"/>
                <a:cs typeface="Arial" panose="020B0604020202020204" pitchFamily="34" charset="0"/>
              </a:rPr>
              <a:t>PHP</a:t>
            </a:r>
            <a:r>
              <a:rPr lang="pt-BR" b="0" i="0" dirty="0">
                <a:effectLst/>
                <a:latin typeface="Arial" panose="020B0604020202020204" pitchFamily="34" charset="0"/>
                <a:cs typeface="Arial" panose="020B0604020202020204" pitchFamily="34" charset="0"/>
              </a:rPr>
              <a:t>, e que se destaca por trazer uma sintaxe expressiva e sofisticada. É muito popular, flexível e fácil de utilizar.</a:t>
            </a:r>
          </a:p>
          <a:p>
            <a:pPr marL="0" indent="0" algn="just">
              <a:lnSpc>
                <a:spcPct val="170000"/>
              </a:lnSpc>
              <a:buNone/>
            </a:pPr>
            <a:r>
              <a:rPr lang="pt-BR" b="0" i="0" dirty="0">
                <a:effectLst/>
                <a:latin typeface="Arial" panose="020B0604020202020204" pitchFamily="34" charset="0"/>
                <a:cs typeface="Arial" panose="020B0604020202020204" pitchFamily="34" charset="0"/>
              </a:rPr>
              <a:t>	Visando robustez e simplicidade, os recursos do </a:t>
            </a:r>
            <a:r>
              <a:rPr lang="pt-BR" b="0" i="0" dirty="0" err="1">
                <a:effectLst/>
                <a:latin typeface="Arial" panose="020B0604020202020204" pitchFamily="34" charset="0"/>
                <a:cs typeface="Arial" panose="020B0604020202020204" pitchFamily="34" charset="0"/>
              </a:rPr>
              <a:t>Laravel</a:t>
            </a:r>
            <a:r>
              <a:rPr lang="pt-BR" b="0" i="0" dirty="0">
                <a:effectLst/>
                <a:latin typeface="Arial" panose="020B0604020202020204" pitchFamily="34" charset="0"/>
                <a:cs typeface="Arial" panose="020B0604020202020204" pitchFamily="34" charset="0"/>
              </a:rPr>
              <a:t> fazem com que o processo de desenvolvimento web seja ágil e integrável, além de possuir uma ferramenta que faz a compilação de diversos </a:t>
            </a:r>
            <a:r>
              <a:rPr lang="pt-BR" b="0" i="1" dirty="0" err="1">
                <a:effectLst/>
                <a:latin typeface="Arial" panose="020B0604020202020204" pitchFamily="34" charset="0"/>
                <a:cs typeface="Arial" panose="020B0604020202020204" pitchFamily="34" charset="0"/>
              </a:rPr>
              <a:t>templates</a:t>
            </a:r>
            <a:r>
              <a:rPr lang="pt-BR" b="0" i="0" dirty="0">
                <a:effectLst/>
                <a:latin typeface="Arial" panose="020B0604020202020204" pitchFamily="34" charset="0"/>
                <a:cs typeface="Arial" panose="020B0604020202020204" pitchFamily="34" charset="0"/>
              </a:rPr>
              <a:t>. A comunidade do </a:t>
            </a:r>
            <a:r>
              <a:rPr lang="pt-BR" b="0" i="0" dirty="0" err="1">
                <a:effectLst/>
                <a:latin typeface="Arial" panose="020B0604020202020204" pitchFamily="34" charset="0"/>
                <a:cs typeface="Arial" panose="020B0604020202020204" pitchFamily="34" charset="0"/>
              </a:rPr>
              <a:t>Laravel</a:t>
            </a:r>
            <a:r>
              <a:rPr lang="pt-BR" b="0" i="0" dirty="0">
                <a:effectLst/>
                <a:latin typeface="Arial" panose="020B0604020202020204" pitchFamily="34" charset="0"/>
                <a:cs typeface="Arial" panose="020B0604020202020204" pitchFamily="34" charset="0"/>
              </a:rPr>
              <a:t> é grande e ativa, e muitos sites famosos usam esse </a:t>
            </a:r>
            <a:r>
              <a:rPr lang="pt-BR" b="0" i="1" dirty="0">
                <a:effectLst/>
                <a:latin typeface="Arial" panose="020B0604020202020204" pitchFamily="34" charset="0"/>
                <a:cs typeface="Arial" panose="020B0604020202020204" pitchFamily="34" charset="0"/>
              </a:rPr>
              <a:t>framework</a:t>
            </a:r>
            <a:r>
              <a:rPr lang="pt-BR" b="0" i="0" dirty="0">
                <a:effectLst/>
                <a:latin typeface="Arial" panose="020B0604020202020204" pitchFamily="34" charset="0"/>
                <a:cs typeface="Arial" panose="020B0604020202020204" pitchFamily="34" charset="0"/>
              </a:rPr>
              <a:t>: BBC</a:t>
            </a:r>
            <a:r>
              <a:rPr lang="pt-BR" dirty="0">
                <a:latin typeface="Arial" panose="020B0604020202020204" pitchFamily="34" charset="0"/>
                <a:cs typeface="Arial" panose="020B0604020202020204" pitchFamily="34" charset="0"/>
              </a:rPr>
              <a:t> e</a:t>
            </a:r>
            <a:r>
              <a:rPr lang="pt-BR" b="0" i="0" dirty="0">
                <a:effectLst/>
                <a:latin typeface="Arial" panose="020B0604020202020204" pitchFamily="34" charset="0"/>
                <a:cs typeface="Arial" panose="020B0604020202020204" pitchFamily="34" charset="0"/>
              </a:rPr>
              <a:t> Pfizer são exemplos de empresas que utilizam esse </a:t>
            </a:r>
            <a:r>
              <a:rPr lang="pt-BR" b="0" i="1" dirty="0">
                <a:effectLst/>
                <a:latin typeface="Arial" panose="020B0604020202020204" pitchFamily="34" charset="0"/>
                <a:cs typeface="Arial" panose="020B0604020202020204" pitchFamily="34" charset="0"/>
              </a:rPr>
              <a:t>Framework.</a:t>
            </a:r>
            <a:endParaRPr lang="pt-BR"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624467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384</Words>
  <Application>Microsoft Office PowerPoint</Application>
  <PresentationFormat>Widescreen</PresentationFormat>
  <Paragraphs>15</Paragraphs>
  <Slides>5</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5</vt:i4>
      </vt:variant>
    </vt:vector>
  </HeadingPairs>
  <TitlesOfParts>
    <vt:vector size="9" baseType="lpstr">
      <vt:lpstr>Arial</vt:lpstr>
      <vt:lpstr>Calibri</vt:lpstr>
      <vt:lpstr>Calibri Light</vt:lpstr>
      <vt:lpstr>Tema do Office</vt:lpstr>
      <vt:lpstr>Aula 4 – Frameworks</vt:lpstr>
      <vt:lpstr>Aula 4 – Frameworks</vt:lpstr>
      <vt:lpstr>Aula 4 – Frameworks</vt:lpstr>
      <vt:lpstr>Aula 4 – Frameworks</vt:lpstr>
      <vt:lpstr>Aula 4 – Frameworks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da disciplina</dc:title>
  <dc:creator>ALCIANO GUSTAVO GENOVEZ DE OLIVEIRA</dc:creator>
  <cp:lastModifiedBy>ALCIANO GUSTAVO GENOVEZ DE OLIVEIRA</cp:lastModifiedBy>
  <cp:revision>9</cp:revision>
  <dcterms:created xsi:type="dcterms:W3CDTF">2023-01-23T18:27:14Z</dcterms:created>
  <dcterms:modified xsi:type="dcterms:W3CDTF">2025-01-29T18:59:45Z</dcterms:modified>
</cp:coreProperties>
</file>