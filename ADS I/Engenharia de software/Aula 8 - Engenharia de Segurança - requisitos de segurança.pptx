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1E142-74BC-926F-E2EB-77FBA875B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81E985-7D4C-AA0D-A4AC-B1D337F4A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73DC81-4AAB-2884-556F-76996698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15AAFB-C79B-746C-9791-D5E15668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BE9DBC-93D8-C890-6F27-4AACFA98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40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B30A5-6F4F-66C4-2342-1A838543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61E31-A0DD-B6F9-FA15-A25A652B8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B91EC2-1E4E-B287-D094-0154CA46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A0734E-38A2-5881-B06B-C89B39998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5FAE09-B0D2-4DA9-5791-751BBE09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44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28C34-41C9-39EF-C9A0-38CC64E4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8C2751-ABE4-EE58-3D1C-1B9221757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2514B5-4CB2-8C65-1C0A-CF342AE4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C154A6-158D-8F1F-AF4A-F5C89DDE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4022CE-098D-A09D-A757-6CE779F4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3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1E9C7-CB45-1853-CE29-7664FDF7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B60218-2D53-D910-5438-1F5B4A463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FD2EB3-BFE6-E18A-BCC0-5946D386A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38EF9A-30BF-DB97-4EEB-8F02816A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DC055-52D7-6596-43E3-EC486CA3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CA39D4-C4B9-D85C-024A-8E978B21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7956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F596C-5D65-BD9F-D6A2-37D30E87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D6F4CA-6559-27A2-5E8F-6554EB735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4D8990-0437-58F3-B10C-7A61DF3F9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EED627-C972-F0E2-4A2B-48BCB27F3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C407AF-D857-6100-8AC7-8FE7FFEF5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E92B7A-3242-D795-44C3-96611D54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119E54E-22E8-5790-98BE-619CC983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8F82D9A-9347-D87E-42E4-63C3D37C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18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BBA8B-8ACB-27D4-B618-1244CCA7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259340-78DA-5B8C-2DF0-152A8AF7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AB9173F-91F5-F203-4184-C28AD54E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33BB08-C553-7883-2779-AAA921EF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24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8C5704-E314-112F-AFCB-599B4330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90D5760-AAE4-DE15-A30D-35932BE4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39C456-1CC5-054F-768C-BD120FFE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95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A94D0-9A60-9424-70C9-B31C7C970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3E2C65-2653-FF85-327D-A6BD326FA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225E2D-A86D-0F74-0AAE-A6B78AD93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D7526E-58F6-F9E5-B862-29310F9A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F06302-70A4-4FC1-A621-FD94B394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2FAB4A-3BC6-95CB-BC15-EBEAAC43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7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510FB-8D8E-BAFA-9FB7-0F492E29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F63C6A-C658-7E67-3447-A697AA955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8779E3-7D20-7E6E-8F78-525889158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EEEDC1-88AF-896B-C719-1CA220A0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EEC758-7947-0F58-F332-1A635B8A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2338A1-A01B-EA7B-E2F0-97647DEE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52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C9DF1-4B0B-D254-67C2-12EE363B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B0764F-B933-ECD0-703D-4966E09FE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FF4677-FEFD-EB9B-8000-E9F87DC0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C4EF02-3C5F-F29C-35AC-3750AF21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64A907-2D89-05C9-6C5E-A43C5E4D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641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49481F-0423-F04F-7F62-A2E58041E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3328F0-8B3E-35F1-4A04-FFFF32BD0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551F63-0600-D1B2-5684-4059AC92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13E758-04C0-A7BA-8BC9-BEBCAB02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FCA654-213B-B2EA-F2AA-8EB73D3A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94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017B0B6-059F-8AB0-C276-9A1074FF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7411C1-D900-4A5F-49E0-8CC8F784A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1C08CC-B542-AC6B-B298-3B506691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620AA-6E5F-4125-B41F-3E3AEED7F1AA}" type="datetimeFigureOut">
              <a:rPr lang="pt-BR" smtClean="0"/>
              <a:t>31/01/2025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4772E5-ABB7-16D4-8F77-FC216250D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AE2E56-00F2-9BFD-5310-55B69FAF7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99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8 – Engenharia de Segurança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A especificação de requisitos de segurança permite que os desenvolvedores de sistemas de informação prevejam possíveis ameaças, suas consequências e contramedidas antes que um sistema esteja em funcionamento, minimizando a probabilidade de precisar reagir a essas ameaças a partir de possíveis ataques desastrosos a sistemas em funcionamento.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O processo de modelagem de requisitos de segurança tem ficado cada vez mais aprimorado e desenvolvido devido à tamanha complexidade e sofisticação envolvida nos ataques cibernéticos descobertos em tempos recentes. </a:t>
            </a:r>
          </a:p>
        </p:txBody>
      </p:sp>
    </p:spTree>
    <p:extLst>
      <p:ext uri="{BB962C8B-B14F-4D97-AF65-F5344CB8AC3E}">
        <p14:creationId xmlns:p14="http://schemas.microsoft.com/office/powerpoint/2010/main" val="384407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6F504-A2D5-AB4E-FD5F-3A076A431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364C4-21FE-E78E-46F1-62CD3A234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8 – Engenharia de Segurança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0AE2E2-6BB7-292D-3ED3-D4C9F1375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O avanço tecnológico tem propiciado o aprimoramento das técnicas de desenvolvimento de </a:t>
            </a:r>
            <a:r>
              <a:rPr lang="pt-BR" i="1" dirty="0"/>
              <a:t>software</a:t>
            </a:r>
            <a:r>
              <a:rPr lang="pt-BR" dirty="0"/>
              <a:t>, mas também contribui para o surgimento e aperfeiçoamento de ataques e ameaças a sistemas de informação. O próprio aumento da complexidade e da quantidade de funcionalidades oferecidas por um sistema torna possível identificar um maior número de vulnerabilidades. Por esse motivo, a especificação de requisitos de segurança é uma etapa primordial para o desenvolvimento de qualquer sistema de informação, principalmente sistemas que lidam com informações sensíveis da organização. </a:t>
            </a:r>
          </a:p>
        </p:txBody>
      </p:sp>
    </p:spTree>
    <p:extLst>
      <p:ext uri="{BB962C8B-B14F-4D97-AF65-F5344CB8AC3E}">
        <p14:creationId xmlns:p14="http://schemas.microsoft.com/office/powerpoint/2010/main" val="1113395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432D3-BAFD-8B05-D772-649A7621D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1954B9-7735-06D2-4C2B-B0E00429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8 – Engenharia de Segurança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9F5C0A9-441B-6C08-A915-92B77A461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412" y="1617785"/>
            <a:ext cx="7245254" cy="50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38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7468B-FA86-AF22-D41C-8AC835C4A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ADA13-C448-E288-7AEA-15101740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8 – Engenharia de Segurança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A8B1A4-1FDE-FBBE-9239-9B2DF742A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O estudo detalhado para especificação de requisitos de segurança se faz necessário antes da concepção e do desenvolvimento do sistema pelo fato de que os riscos apresentados, caso essa etapa seja negligenciada, podem ser bastante ameaçadores e os incidentes, muitas vezes, irreversíveis.</a:t>
            </a:r>
          </a:p>
        </p:txBody>
      </p:sp>
    </p:spTree>
    <p:extLst>
      <p:ext uri="{BB962C8B-B14F-4D97-AF65-F5344CB8AC3E}">
        <p14:creationId xmlns:p14="http://schemas.microsoft.com/office/powerpoint/2010/main" val="1522449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0859D-CDBD-9F04-E11A-E25706A69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D2440-D3C3-70C0-F4FB-99C6BE902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8 – Engenharia de Segurança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877A1A-CA59-847C-B06E-EC55A934D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O comportamento de sistemas desse tipo é coordenado por uma sequência de atividades predefinidas, as quais constituem os processos de negócio. Tais processos podem apresentar políticas de segurança específicas, complexas e que podem ser detalhadas por uma coleção de requisitos, os quais estão associados a diferentes pontos de execução e checagem dentro do sistema. Por conta disso, a etapa de especificação de requisitos de segurança possui grande importância em sistemas orientados a processos.</a:t>
            </a:r>
          </a:p>
        </p:txBody>
      </p:sp>
    </p:spTree>
    <p:extLst>
      <p:ext uri="{BB962C8B-B14F-4D97-AF65-F5344CB8AC3E}">
        <p14:creationId xmlns:p14="http://schemas.microsoft.com/office/powerpoint/2010/main" val="1474804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BDBB-E7FB-21AB-A281-9FFC4C6F0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B0B8D-4BD8-233F-F153-85DBF11C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8 – Engenharia de Segurança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1C9C0-1E80-BD0F-DED2-C737E6E84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 elicitação de requisitos de segurança de </a:t>
            </a:r>
            <a:r>
              <a:rPr lang="pt-BR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software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consiste na definição das necessidades de proteção exigidas pelo software. Tal atividade exige uma colaboração intensa entre os interessados no </a:t>
            </a:r>
            <a:r>
              <a:rPr lang="pt-BR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software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especialmente daqueles com visão negocial, que podem ter consciência das consequências no negócio decorrentes de incidentes de segurança, cujo vetor de ataque  se localize no </a:t>
            </a:r>
            <a:r>
              <a:rPr lang="pt-BR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software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717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6BCA6-1734-00A2-C128-C7B9DCD81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53CEF0-3EBC-CFCA-037B-9D53BE07D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Confidencialidade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B52DAE-DAB2-06FA-D327-A595A68B2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1744394"/>
            <a:ext cx="11353800" cy="4742059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	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Senha e outros campos de entrada de dados sensíveis necessitam ser mascarados. Senhas não devem ser armazenadas as claras nos sistemas </a:t>
            </a:r>
            <a:r>
              <a:rPr lang="pt-BR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e quando armazenadas devem passar por processo de </a:t>
            </a:r>
            <a:r>
              <a:rPr lang="pt-BR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hash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	Os protocolos 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Transport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Layer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Security (TLS) e 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Secure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Socket 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Layer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(SSL) deve ser colocados em prática para proteger contra ameaças internas para todas as informações de cartão de crédito que seja transmitida, isso caso sejam utilizadas transações financeiras.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	O uso de protocolos reconhecidamente inseguros como, por exemplo, File 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Transfer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Protocol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(FTP) para transmitir credenciais de contas em texto claro a terceiros fora de sua organização deve ser proibido.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	Arquivos de log não devem armazenar qualquer informação sensível como definido pelo negócio, de modo que seja compreensível por seres humanos.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64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DB80F-47C5-3AFF-6FDE-72834FA4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2E632-5056-12DA-B755-70FA2A1F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Integridade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AF144B-D0A4-FF1C-ECE7-C04D2D2D6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1943912"/>
            <a:ext cx="11353800" cy="4542541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	Todos os formulários de entrada necessitam ser validados frente a um conjunto de entradas aceitáveis, antes do </a:t>
            </a:r>
            <a:r>
              <a:rPr lang="pt-BR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software</a:t>
            </a: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aceita-los para processamento. Máscaras de validação e outros recursos podem ser necessários.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	Todos os personagens não humanos como um sistema ou processos internos devem ser identificados, monitorados e impedidos de alteração de dados, a medida que eles sejam utilizados no sistema que eles rodam, a não ser que explicitamente autorizado para tal.</a:t>
            </a:r>
          </a:p>
        </p:txBody>
      </p:sp>
    </p:spTree>
    <p:extLst>
      <p:ext uri="{BB962C8B-B14F-4D97-AF65-F5344CB8AC3E}">
        <p14:creationId xmlns:p14="http://schemas.microsoft.com/office/powerpoint/2010/main" val="575833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F9A09-094C-B8C6-3F0A-B535AB24A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9351F-14FB-39EB-F4F9-E9EF72B5F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Disponibilidade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4003E5-8300-C48F-ECAE-C952925BB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1716258"/>
            <a:ext cx="11353800" cy="4770195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pt-BR" dirty="0">
                <a:solidFill>
                  <a:srgbClr val="333333"/>
                </a:solidFill>
                <a:latin typeface="Arial" panose="020B0604020202020204" pitchFamily="34" charset="0"/>
              </a:rPr>
              <a:t>	</a:t>
            </a:r>
            <a:r>
              <a:rPr lang="pt-BR" dirty="0"/>
              <a:t>O software deve oferecer alta disponibilidade como definido pelo SLA. O SLA é conhecido como sendo o “Acordo de Nível de Serviço”, “Contrato de Nível de Serviço” ou “Garantia de Nível de Serviço” que é um contrato firmado entre as partes envolvidas em uma negociação que determina quais são as responsabilidades de cada um em relação aos serviços contratados. A intenção desse acordo é assegurar que o cliente tenha acesso a exatamente o que contratou, no que se refere à qualidade, aos prazos e às características do serviço.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	Por exemplo: O </a:t>
            </a:r>
            <a:r>
              <a:rPr lang="pt-BR" i="1" dirty="0"/>
              <a:t>software</a:t>
            </a:r>
            <a:r>
              <a:rPr lang="pt-BR" dirty="0"/>
              <a:t> deve estar preparado para atender capacidade máxima de 300 usuários simultâneos. O </a:t>
            </a:r>
            <a:r>
              <a:rPr lang="pt-BR" i="1" dirty="0"/>
              <a:t>software</a:t>
            </a:r>
            <a:r>
              <a:rPr lang="pt-BR" dirty="0"/>
              <a:t> e seus dados devem ser replicados por todos os centros de dados para prover balanceamento de carga e redundância. A funcionalidade de missão crítica no </a:t>
            </a:r>
            <a:r>
              <a:rPr lang="pt-BR" i="1" dirty="0"/>
              <a:t>software</a:t>
            </a:r>
            <a:r>
              <a:rPr lang="pt-BR" dirty="0"/>
              <a:t> deve ser restaurada a operação normal no prazo de 1 hora de descontinuidade; funcionalidade de missão essencial no </a:t>
            </a:r>
            <a:r>
              <a:rPr lang="pt-BR" i="1" dirty="0"/>
              <a:t>software</a:t>
            </a:r>
            <a:r>
              <a:rPr lang="pt-BR" dirty="0"/>
              <a:t> deve ser restaurada a operação normal no prazo de 4 horas da interrupção, e funcionalidade de missão suporte no </a:t>
            </a:r>
            <a:r>
              <a:rPr lang="pt-BR" i="1" dirty="0"/>
              <a:t>software</a:t>
            </a:r>
            <a:r>
              <a:rPr lang="pt-BR" dirty="0"/>
              <a:t> deve ser restaurada a operação normal no prazo de 24 horas.</a:t>
            </a:r>
          </a:p>
        </p:txBody>
      </p:sp>
    </p:spTree>
    <p:extLst>
      <p:ext uri="{BB962C8B-B14F-4D97-AF65-F5344CB8AC3E}">
        <p14:creationId xmlns:p14="http://schemas.microsoft.com/office/powerpoint/2010/main" val="70996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76FDF-630A-C398-3456-F352F7629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DE758-4201-450A-9889-1433E9C22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Autenticação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64EB86-7A6D-7C44-8E9F-74BC37D13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O </a:t>
            </a:r>
            <a:r>
              <a:rPr lang="pt-BR" i="1" dirty="0"/>
              <a:t>software</a:t>
            </a:r>
            <a:r>
              <a:rPr lang="pt-BR" dirty="0"/>
              <a:t> será implantado somente na Intranet e o usuário autenticado deve fornecer novamente suas credenciais para acessar a aplicação, uma vez que esteja autenticado na rede.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O </a:t>
            </a:r>
            <a:r>
              <a:rPr lang="pt-BR" i="1" dirty="0"/>
              <a:t>software</a:t>
            </a:r>
            <a:r>
              <a:rPr lang="pt-BR" dirty="0"/>
              <a:t> deverá fornecer credenciais de acesso a terceiros e fornecedores que estão definidos na lista de usuários.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A política de autenticação garante a necessidade para dois – ou autenticação com múltiplos fatores para todos os </a:t>
            </a:r>
            <a:r>
              <a:rPr lang="pt-BR" i="1" dirty="0"/>
              <a:t>softwares</a:t>
            </a:r>
            <a:r>
              <a:rPr lang="pt-BR" dirty="0"/>
              <a:t> de processamento financeiro.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Poderá ser necessário em alguns casos e níveis de segurança a autenticação por meio de biometria ou por </a:t>
            </a:r>
            <a:r>
              <a:rPr lang="pt-BR" dirty="0" err="1"/>
              <a:t>multibiometria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2877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972A9-1AF0-F498-E12D-FA83801ED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9F131-846A-B857-443B-E875995B4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Autorização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510A64-5495-2F09-6128-B9C150E6C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O acesso a arquivos secretos de alta sensibilidade deve ser restrito somente a usuários com níveis de permissão secreto e </a:t>
            </a:r>
            <a:r>
              <a:rPr lang="pt-BR" dirty="0" err="1"/>
              <a:t>super-secreto</a:t>
            </a:r>
            <a:r>
              <a:rPr lang="pt-BR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Os usuários não devem ser demandados a enviar suas credenciais sempre, uma vez que ele tenha se autenticado com sucesso.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Todos os usuários convidados serão autenticados com a permissão de somente leitura enquanto os usuários autenticados por padrão terão permissão de leitura e escrita como parte do papel de usuário regular. Somente os usuários com acesso administrativo, terão todos os direitos dos usuários regulares, adicionalmente a execução de operações.</a:t>
            </a:r>
          </a:p>
        </p:txBody>
      </p:sp>
    </p:spTree>
    <p:extLst>
      <p:ext uri="{BB962C8B-B14F-4D97-AF65-F5344CB8AC3E}">
        <p14:creationId xmlns:p14="http://schemas.microsoft.com/office/powerpoint/2010/main" val="3609704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0DBE-D802-E100-D446-F618F20F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0FF42-951D-5B72-E5C4-8E798E53B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>
            <a:normAutofit/>
          </a:bodyPr>
          <a:lstStyle/>
          <a:p>
            <a:pPr algn="ctr"/>
            <a:r>
              <a:rPr lang="pt-BR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Auditing</a:t>
            </a:r>
            <a:r>
              <a:rPr lang="pt-BR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Logging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A7F578-E71A-E988-6C97-934FDD32B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1631852"/>
            <a:ext cx="11353800" cy="5008099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	Todas as tentativas de </a:t>
            </a:r>
            <a:r>
              <a:rPr lang="pt-BR" i="1" dirty="0"/>
              <a:t>login</a:t>
            </a:r>
            <a:r>
              <a:rPr lang="pt-BR" dirty="0"/>
              <a:t> e </a:t>
            </a:r>
            <a:r>
              <a:rPr lang="pt-BR" i="1" dirty="0"/>
              <a:t>log off</a:t>
            </a:r>
            <a:r>
              <a:rPr lang="pt-BR" dirty="0"/>
              <a:t> devem ser registradas juntamente com o </a:t>
            </a:r>
            <a:r>
              <a:rPr lang="pt-BR" dirty="0" err="1"/>
              <a:t>timestamp</a:t>
            </a:r>
            <a:r>
              <a:rPr lang="pt-BR" dirty="0"/>
              <a:t> e o endereço de IP de origem da requisição.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	Os valores anterior e posterior a uma mudança de preço modificado por um usuário, quando da atualização de um preço por um usuário, devem ser monitorados com os seguintes campos auditados: identidade, ação, objeto e </a:t>
            </a:r>
            <a:r>
              <a:rPr lang="pt-BR" dirty="0" err="1"/>
              <a:t>timestamp</a:t>
            </a:r>
            <a:r>
              <a:rPr lang="pt-BR" dirty="0"/>
              <a:t>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	Os </a:t>
            </a:r>
            <a:r>
              <a:rPr lang="pt-BR" i="1" dirty="0"/>
              <a:t>logs</a:t>
            </a:r>
            <a:r>
              <a:rPr lang="pt-BR" dirty="0"/>
              <a:t> de auditoria devem sempre ser adicionados de novos registros e nunca sobrescritos e devem ser mantidos de forma segura por um período de 3 anos.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pt-BR" dirty="0"/>
              <a:t>	Cada atividade do usuário deverá ser rastreada de modo único. As sessões devem ser explicitamente suspensas quando o usuário solicita o </a:t>
            </a:r>
            <a:r>
              <a:rPr lang="pt-BR" i="1" dirty="0"/>
              <a:t>log off</a:t>
            </a:r>
            <a:r>
              <a:rPr lang="pt-BR" dirty="0"/>
              <a:t> ou fecha a janela do </a:t>
            </a:r>
            <a:r>
              <a:rPr lang="pt-BR" i="1" dirty="0"/>
              <a:t>browser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10587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1149</Words>
  <Application>Microsoft Office PowerPoint</Application>
  <PresentationFormat>Widescreen</PresentationFormat>
  <Paragraphs>37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Aula 8 – Engenharia de Segurança</vt:lpstr>
      <vt:lpstr>Aula 8 – Engenharia de Segurança</vt:lpstr>
      <vt:lpstr>Aula 8 – Engenharia de Segurança</vt:lpstr>
      <vt:lpstr>Aula 8 – Engenharia de Segurança</vt:lpstr>
      <vt:lpstr>Aula 8 – Engenharia de Segurança</vt:lpstr>
      <vt:lpstr>Aula 8 – Engenharia de Segurança</vt:lpstr>
      <vt:lpstr>Confidencialidade</vt:lpstr>
      <vt:lpstr>Integridade</vt:lpstr>
      <vt:lpstr>Disponibilidade</vt:lpstr>
      <vt:lpstr>Autenticação</vt:lpstr>
      <vt:lpstr>Autorização</vt:lpstr>
      <vt:lpstr>Auditing and Logging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ALCIANO GUSTAVO GENOVEZ DE OLIVEIRA</dc:creator>
  <cp:lastModifiedBy>ALCIANO GUSTAVO GENOVEZ DE OLIVEIRA</cp:lastModifiedBy>
  <cp:revision>18</cp:revision>
  <dcterms:created xsi:type="dcterms:W3CDTF">2023-01-23T18:27:14Z</dcterms:created>
  <dcterms:modified xsi:type="dcterms:W3CDTF">2025-01-31T17:00:06Z</dcterms:modified>
</cp:coreProperties>
</file>